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9" r:id="rId1"/>
  </p:sldMasterIdLst>
  <p:sldIdLst>
    <p:sldId id="256" r:id="rId2"/>
    <p:sldId id="257" r:id="rId3"/>
    <p:sldId id="258" r:id="rId4"/>
    <p:sldId id="259" r:id="rId5"/>
    <p:sldId id="260" r:id="rId6"/>
    <p:sldId id="264" r:id="rId7"/>
    <p:sldId id="265" r:id="rId8"/>
    <p:sldId id="266" r:id="rId9"/>
    <p:sldId id="267" r:id="rId10"/>
    <p:sldId id="268" r:id="rId11"/>
    <p:sldId id="271" r:id="rId12"/>
    <p:sldId id="272" r:id="rId13"/>
    <p:sldId id="273" r:id="rId14"/>
    <p:sldId id="275" r:id="rId15"/>
    <p:sldId id="276" r:id="rId16"/>
    <p:sldId id="277" r:id="rId17"/>
    <p:sldId id="278" r:id="rId18"/>
    <p:sldId id="279" r:id="rId19"/>
    <p:sldId id="280" r:id="rId20"/>
    <p:sldId id="281" r:id="rId21"/>
    <p:sldId id="289" r:id="rId22"/>
    <p:sldId id="290" r:id="rId23"/>
    <p:sldId id="282" r:id="rId24"/>
    <p:sldId id="291" r:id="rId25"/>
    <p:sldId id="292" r:id="rId26"/>
    <p:sldId id="284" r:id="rId27"/>
    <p:sldId id="293" r:id="rId28"/>
    <p:sldId id="287" r:id="rId2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napToObjects="1">
      <p:cViewPr varScale="1">
        <p:scale>
          <a:sx n="82" d="100"/>
          <a:sy n="82" d="100"/>
        </p:scale>
        <p:origin x="72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654" y="1447801"/>
            <a:ext cx="8823360" cy="3329581"/>
          </a:xfrm>
        </p:spPr>
        <p:txBody>
          <a:bodyPr anchor="b"/>
          <a:lstStyle>
            <a:lvl1pPr>
              <a:defRPr sz="7198"/>
            </a:lvl1pPr>
          </a:lstStyle>
          <a:p>
            <a:r>
              <a:rPr lang="en-US"/>
              <a:t>Click to edit Master title style</a:t>
            </a:r>
            <a:endParaRPr lang="en-US" dirty="0"/>
          </a:p>
        </p:txBody>
      </p:sp>
      <p:sp>
        <p:nvSpPr>
          <p:cNvPr id="3" name="Subtitle 2"/>
          <p:cNvSpPr>
            <a:spLocks noGrp="1"/>
          </p:cNvSpPr>
          <p:nvPr>
            <p:ph type="subTitle" idx="1"/>
          </p:nvPr>
        </p:nvSpPr>
        <p:spPr>
          <a:xfrm>
            <a:off x="1154654" y="4777380"/>
            <a:ext cx="8823360" cy="861420"/>
          </a:xfrm>
        </p:spPr>
        <p:txBody>
          <a:bodyPr anchor="t"/>
          <a:lstStyle>
            <a:lvl1pPr marL="0" indent="0" algn="l">
              <a:buNone/>
              <a:defRPr cap="all">
                <a:solidFill>
                  <a:schemeClr val="bg2">
                    <a:lumMod val="40000"/>
                    <a:lumOff val="60000"/>
                  </a:schemeClr>
                </a:solidFill>
              </a:defRPr>
            </a:lvl1pPr>
            <a:lvl2pPr marL="457063" indent="0" algn="ctr">
              <a:buNone/>
              <a:defRPr>
                <a:solidFill>
                  <a:schemeClr val="tx1">
                    <a:tint val="75000"/>
                  </a:schemeClr>
                </a:solidFill>
              </a:defRPr>
            </a:lvl2pPr>
            <a:lvl3pPr marL="914126" indent="0" algn="ctr">
              <a:buNone/>
              <a:defRPr>
                <a:solidFill>
                  <a:schemeClr val="tx1">
                    <a:tint val="75000"/>
                  </a:schemeClr>
                </a:solidFill>
              </a:defRPr>
            </a:lvl3pPr>
            <a:lvl4pPr marL="1371189" indent="0" algn="ctr">
              <a:buNone/>
              <a:defRPr>
                <a:solidFill>
                  <a:schemeClr val="tx1">
                    <a:tint val="75000"/>
                  </a:schemeClr>
                </a:solidFill>
              </a:defRPr>
            </a:lvl4pPr>
            <a:lvl5pPr marL="1828251" indent="0" algn="ctr">
              <a:buNone/>
              <a:defRPr>
                <a:solidFill>
                  <a:schemeClr val="tx1">
                    <a:tint val="75000"/>
                  </a:schemeClr>
                </a:solidFill>
              </a:defRPr>
            </a:lvl5pPr>
            <a:lvl6pPr marL="2285314" indent="0" algn="ctr">
              <a:buNone/>
              <a:defRPr>
                <a:solidFill>
                  <a:schemeClr val="tx1">
                    <a:tint val="75000"/>
                  </a:schemeClr>
                </a:solidFill>
              </a:defRPr>
            </a:lvl6pPr>
            <a:lvl7pPr marL="2742377" indent="0" algn="ctr">
              <a:buNone/>
              <a:defRPr>
                <a:solidFill>
                  <a:schemeClr val="tx1">
                    <a:tint val="75000"/>
                  </a:schemeClr>
                </a:solidFill>
              </a:defRPr>
            </a:lvl7pPr>
            <a:lvl8pPr marL="3199440" indent="0" algn="ctr">
              <a:buNone/>
              <a:defRPr>
                <a:solidFill>
                  <a:schemeClr val="tx1">
                    <a:tint val="75000"/>
                  </a:schemeClr>
                </a:solidFill>
              </a:defRPr>
            </a:lvl8pPr>
            <a:lvl9pPr marL="3656503"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51343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7844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656" y="2861734"/>
            <a:ext cx="8823359" cy="1915647"/>
          </a:xfrm>
        </p:spPr>
        <p:txBody>
          <a:bodyPr anchor="b"/>
          <a:lstStyle>
            <a:lvl1pPr algn="l">
              <a:defRPr sz="3999" b="0" cap="none"/>
            </a:lvl1pPr>
          </a:lstStyle>
          <a:p>
            <a:r>
              <a:rPr lang="en-US"/>
              <a:t>Click to edit Master title style</a:t>
            </a:r>
            <a:endParaRPr lang="en-US" dirty="0"/>
          </a:p>
        </p:txBody>
      </p:sp>
      <p:sp>
        <p:nvSpPr>
          <p:cNvPr id="3" name="Text Placeholder 2"/>
          <p:cNvSpPr>
            <a:spLocks noGrp="1"/>
          </p:cNvSpPr>
          <p:nvPr>
            <p:ph type="body" idx="1"/>
          </p:nvPr>
        </p:nvSpPr>
        <p:spPr>
          <a:xfrm>
            <a:off x="1154654" y="4777381"/>
            <a:ext cx="8823360" cy="860400"/>
          </a:xfrm>
        </p:spPr>
        <p:txBody>
          <a:bodyPr anchor="t"/>
          <a:lstStyle>
            <a:lvl1pPr marL="0" indent="0" algn="l">
              <a:buNone/>
              <a:defRPr sz="1999" cap="all">
                <a:solidFill>
                  <a:schemeClr val="bg2">
                    <a:lumMod val="40000"/>
                    <a:lumOff val="60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15093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025" y="2060576"/>
            <a:ext cx="4395194" cy="4195763"/>
          </a:xfrm>
        </p:spPr>
        <p:txBody>
          <a:bodyPr>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3021" y="2056093"/>
            <a:ext cx="4395196" cy="4200245"/>
          </a:xfrm>
        </p:spPr>
        <p:txBody>
          <a:bodyPr>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8493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026" y="1905000"/>
            <a:ext cx="4395193"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025" y="2514600"/>
            <a:ext cx="4395194" cy="3741738"/>
          </a:xfrm>
        </p:spPr>
        <p:txBody>
          <a:bodyPr>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3023" y="1905000"/>
            <a:ext cx="4395194"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3023" y="2514600"/>
            <a:ext cx="4395194" cy="3741738"/>
          </a:xfrm>
        </p:spPr>
        <p:txBody>
          <a:bodyPr>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7/27/2026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97925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2886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182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652" y="1447800"/>
            <a:ext cx="3400178" cy="1447800"/>
          </a:xfrm>
        </p:spPr>
        <p:txBody>
          <a:bodyPr anchor="b"/>
          <a:lstStyle>
            <a:lvl1pPr algn="l">
              <a:defRPr sz="2399" b="0"/>
            </a:lvl1pPr>
          </a:lstStyle>
          <a:p>
            <a:r>
              <a:rPr lang="en-US"/>
              <a:t>Click to edit Master title style</a:t>
            </a:r>
            <a:endParaRPr lang="en-US" dirty="0"/>
          </a:p>
        </p:txBody>
      </p:sp>
      <p:sp>
        <p:nvSpPr>
          <p:cNvPr id="3" name="Content Placeholder 2"/>
          <p:cNvSpPr>
            <a:spLocks noGrp="1"/>
          </p:cNvSpPr>
          <p:nvPr>
            <p:ph idx="1"/>
          </p:nvPr>
        </p:nvSpPr>
        <p:spPr>
          <a:xfrm>
            <a:off x="4783370" y="1447800"/>
            <a:ext cx="5194644" cy="4572000"/>
          </a:xfrm>
        </p:spPr>
        <p:txBody>
          <a:bodyPr anchor="ctr">
            <a:normAutofit/>
          </a:bodyPr>
          <a:lstStyle>
            <a:lvl1pPr>
              <a:defRPr sz="1999"/>
            </a:lvl1pPr>
            <a:lvl2pPr>
              <a:defRPr sz="1799"/>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653" y="3129281"/>
            <a:ext cx="3400177" cy="2895599"/>
          </a:xfrm>
        </p:spPr>
        <p:txBody>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47808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606" y="1854192"/>
            <a:ext cx="5091580" cy="1574808"/>
          </a:xfrm>
        </p:spPr>
        <p:txBody>
          <a:bodyPr anchor="b">
            <a:normAutofit/>
          </a:bodyPr>
          <a:lstStyle>
            <a:lvl1pPr algn="l">
              <a:defRPr sz="3599"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7736" y="1143000"/>
            <a:ext cx="3199567"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654" y="3657600"/>
            <a:ext cx="5083655" cy="1371600"/>
          </a:xfrm>
        </p:spPr>
        <p:txBody>
          <a:bodyPr>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641246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656" y="4800587"/>
            <a:ext cx="8823359" cy="566738"/>
          </a:xfrm>
        </p:spPr>
        <p:txBody>
          <a:bodyPr anchor="b">
            <a:normAutofit/>
          </a:bodyPr>
          <a:lstStyle>
            <a:lvl1pPr algn="l">
              <a:defRPr sz="2399"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654" y="685800"/>
            <a:ext cx="8823360"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655" y="5367325"/>
            <a:ext cx="8823358" cy="493712"/>
          </a:xfrm>
        </p:spPr>
        <p:txBody>
          <a:bodyPr>
            <a:normAutofit/>
          </a:bodyPr>
          <a:lstStyle>
            <a:lvl1pPr marL="0" indent="0">
              <a:buNone/>
              <a:defRPr sz="12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23864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654" y="1447800"/>
            <a:ext cx="8823361" cy="1981200"/>
          </a:xfrm>
        </p:spPr>
        <p:txBody>
          <a:bodyPr/>
          <a:lstStyle>
            <a:lvl1pPr>
              <a:defRPr sz="4799"/>
            </a:lvl1pPr>
          </a:lstStyle>
          <a:p>
            <a:r>
              <a:rPr lang="en-US"/>
              <a:t>Click to edit Master title style</a:t>
            </a:r>
            <a:endParaRPr lang="en-US" dirty="0"/>
          </a:p>
        </p:txBody>
      </p:sp>
      <p:sp>
        <p:nvSpPr>
          <p:cNvPr id="8" name="Text Placeholder 3"/>
          <p:cNvSpPr>
            <a:spLocks noGrp="1"/>
          </p:cNvSpPr>
          <p:nvPr>
            <p:ph type="body" sz="half" idx="2"/>
          </p:nvPr>
        </p:nvSpPr>
        <p:spPr>
          <a:xfrm>
            <a:off x="1154654" y="3657600"/>
            <a:ext cx="8823361" cy="2362200"/>
          </a:xfrm>
        </p:spPr>
        <p:txBody>
          <a:bodyPr anchor="ctr">
            <a:normAutofit/>
          </a:bodyPr>
          <a:lstStyle>
            <a:lvl1pPr marL="0" indent="0">
              <a:buNone/>
              <a:defRPr sz="1799"/>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724734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391" y="1447800"/>
            <a:ext cx="7997232" cy="2323374"/>
          </a:xfrm>
        </p:spPr>
        <p:txBody>
          <a:bodyPr/>
          <a:lstStyle>
            <a:lvl1pPr>
              <a:defRPr sz="4799"/>
            </a:lvl1pPr>
          </a:lstStyle>
          <a:p>
            <a:r>
              <a:rPr lang="en-US"/>
              <a:t>Click to edit Master title style</a:t>
            </a:r>
            <a:endParaRPr lang="en-US" dirty="0"/>
          </a:p>
        </p:txBody>
      </p:sp>
      <p:sp>
        <p:nvSpPr>
          <p:cNvPr id="11" name="Text Placeholder 3"/>
          <p:cNvSpPr>
            <a:spLocks noGrp="1"/>
          </p:cNvSpPr>
          <p:nvPr>
            <p:ph type="body" sz="half" idx="14"/>
          </p:nvPr>
        </p:nvSpPr>
        <p:spPr>
          <a:xfrm>
            <a:off x="1929898" y="3771174"/>
            <a:ext cx="7277753"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654" y="4350657"/>
            <a:ext cx="8823361" cy="1676400"/>
          </a:xfrm>
        </p:spPr>
        <p:txBody>
          <a:bodyPr anchor="ctr">
            <a:normAutofit/>
          </a:bodyPr>
          <a:lstStyle>
            <a:lvl1pPr marL="0" indent="0">
              <a:buNone/>
              <a:defRPr sz="1799"/>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898061" y="971253"/>
            <a:ext cx="801703"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196" dirty="0"/>
              <a:t>“</a:t>
            </a:r>
          </a:p>
        </p:txBody>
      </p:sp>
      <p:sp>
        <p:nvSpPr>
          <p:cNvPr id="15" name="TextBox 14"/>
          <p:cNvSpPr txBox="1"/>
          <p:nvPr/>
        </p:nvSpPr>
        <p:spPr>
          <a:xfrm>
            <a:off x="9328060" y="2613787"/>
            <a:ext cx="801703"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196" dirty="0"/>
              <a:t>”</a:t>
            </a:r>
          </a:p>
        </p:txBody>
      </p:sp>
    </p:spTree>
    <p:extLst>
      <p:ext uri="{BB962C8B-B14F-4D97-AF65-F5344CB8AC3E}">
        <p14:creationId xmlns:p14="http://schemas.microsoft.com/office/powerpoint/2010/main" val="7817329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653" y="3124201"/>
            <a:ext cx="8823362" cy="1653180"/>
          </a:xfrm>
        </p:spPr>
        <p:txBody>
          <a:bodyPr anchor="b"/>
          <a:lstStyle>
            <a:lvl1pPr algn="l">
              <a:defRPr sz="3999" b="0" cap="none"/>
            </a:lvl1pPr>
          </a:lstStyle>
          <a:p>
            <a:r>
              <a:rPr lang="en-US"/>
              <a:t>Click to edit Master title style</a:t>
            </a:r>
            <a:endParaRPr lang="en-US" dirty="0"/>
          </a:p>
        </p:txBody>
      </p:sp>
      <p:sp>
        <p:nvSpPr>
          <p:cNvPr id="3" name="Text Placeholder 2"/>
          <p:cNvSpPr>
            <a:spLocks noGrp="1"/>
          </p:cNvSpPr>
          <p:nvPr>
            <p:ph type="body" idx="1"/>
          </p:nvPr>
        </p:nvSpPr>
        <p:spPr>
          <a:xfrm>
            <a:off x="1154654" y="4777381"/>
            <a:ext cx="8823361" cy="860400"/>
          </a:xfrm>
        </p:spPr>
        <p:txBody>
          <a:bodyPr anchor="t"/>
          <a:lstStyle>
            <a:lvl1pPr marL="0" indent="0" algn="l">
              <a:buNone/>
              <a:defRPr sz="1999" cap="none">
                <a:solidFill>
                  <a:schemeClr val="bg2">
                    <a:lumMod val="40000"/>
                    <a:lumOff val="60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950573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199"/>
            </a:lvl1pPr>
          </a:lstStyle>
          <a:p>
            <a:r>
              <a:rPr lang="en-US"/>
              <a:t>Click to edit Master title style</a:t>
            </a:r>
            <a:endParaRPr lang="en-US" dirty="0"/>
          </a:p>
        </p:txBody>
      </p:sp>
      <p:sp>
        <p:nvSpPr>
          <p:cNvPr id="3" name="Text Placeholder 2"/>
          <p:cNvSpPr>
            <a:spLocks noGrp="1"/>
          </p:cNvSpPr>
          <p:nvPr>
            <p:ph type="body" idx="1"/>
          </p:nvPr>
        </p:nvSpPr>
        <p:spPr>
          <a:xfrm>
            <a:off x="632782" y="1981200"/>
            <a:ext cx="2946099"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293" y="2667000"/>
            <a:ext cx="2926588" cy="3589338"/>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2648" y="1981200"/>
            <a:ext cx="2935476"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2097" y="2667000"/>
            <a:ext cx="2946027" cy="3589338"/>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2845" y="1981200"/>
            <a:ext cx="2931349"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2845" y="2667000"/>
            <a:ext cx="2931349" cy="3589338"/>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cxnSp>
        <p:nvCxnSpPr>
          <p:cNvPr id="17" name="Straight Connector 16"/>
          <p:cNvCxnSpPr/>
          <p:nvPr/>
        </p:nvCxnSpPr>
        <p:spPr>
          <a:xfrm>
            <a:off x="372517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0414"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225277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199"/>
            </a:lvl1pPr>
          </a:lstStyle>
          <a:p>
            <a:r>
              <a:rPr lang="en-US"/>
              <a:t>Click to edit Master title style</a:t>
            </a:r>
            <a:endParaRPr lang="en-US" dirty="0"/>
          </a:p>
        </p:txBody>
      </p:sp>
      <p:sp>
        <p:nvSpPr>
          <p:cNvPr id="3" name="Text Placeholder 2"/>
          <p:cNvSpPr>
            <a:spLocks noGrp="1"/>
          </p:cNvSpPr>
          <p:nvPr>
            <p:ph type="body" idx="1"/>
          </p:nvPr>
        </p:nvSpPr>
        <p:spPr>
          <a:xfrm>
            <a:off x="652293" y="4250949"/>
            <a:ext cx="2939284"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293" y="2209800"/>
            <a:ext cx="2939284"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293" y="4827212"/>
            <a:ext cx="2939284" cy="659189"/>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8363" y="4250949"/>
            <a:ext cx="2929762"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8362" y="2209800"/>
            <a:ext cx="292976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7009" y="4827211"/>
            <a:ext cx="2933642" cy="659189"/>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2845" y="4250949"/>
            <a:ext cx="2931349"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2844" y="2209800"/>
            <a:ext cx="2931349"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2720" y="4827209"/>
            <a:ext cx="2935232" cy="659189"/>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cxnSp>
        <p:nvCxnSpPr>
          <p:cNvPr id="19" name="Straight Connector 18"/>
          <p:cNvCxnSpPr/>
          <p:nvPr/>
        </p:nvCxnSpPr>
        <p:spPr>
          <a:xfrm>
            <a:off x="372517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0414"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53768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752909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2050" y="430214"/>
            <a:ext cx="1752145"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294" y="887414"/>
            <a:ext cx="7421216"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10963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6"/>
            <a:ext cx="4035961"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8"/>
            <a:ext cx="1522016" cy="2365453"/>
          </a:xfrm>
          <a:prstGeom prst="rect">
            <a:avLst/>
          </a:prstGeom>
        </p:spPr>
      </p:pic>
      <p:sp>
        <p:nvSpPr>
          <p:cNvPr id="16" name="Oval 15"/>
          <p:cNvSpPr/>
          <p:nvPr/>
        </p:nvSpPr>
        <p:spPr>
          <a:xfrm>
            <a:off x="8606770" y="1676400"/>
            <a:ext cx="2818666"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7330" y="1"/>
            <a:ext cx="1602969"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3637" y="6096000"/>
            <a:ext cx="993475" cy="762000"/>
          </a:xfrm>
          <a:prstGeom prst="rect">
            <a:avLst/>
          </a:prstGeom>
        </p:spPr>
      </p:pic>
      <p:sp>
        <p:nvSpPr>
          <p:cNvPr id="14" name="Rectangle 13"/>
          <p:cNvSpPr/>
          <p:nvPr/>
        </p:nvSpPr>
        <p:spPr>
          <a:xfrm>
            <a:off x="10435094" y="0"/>
            <a:ext cx="685621"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5943" y="452718"/>
            <a:ext cx="9402274"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025" y="2052919"/>
            <a:ext cx="894421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2866" y="1790741"/>
            <a:ext cx="990599" cy="304720"/>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7/27/2026</a:t>
            </a:fld>
            <a:endParaRPr lang="en-US"/>
          </a:p>
        </p:txBody>
      </p:sp>
      <p:sp>
        <p:nvSpPr>
          <p:cNvPr id="5" name="Footer Placeholder 4"/>
          <p:cNvSpPr>
            <a:spLocks noGrp="1"/>
          </p:cNvSpPr>
          <p:nvPr>
            <p:ph type="ftr" sz="quarter" idx="3"/>
          </p:nvPr>
        </p:nvSpPr>
        <p:spPr>
          <a:xfrm rot="5400000">
            <a:off x="8948740" y="3225337"/>
            <a:ext cx="3859795" cy="304722"/>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49844" y="295730"/>
            <a:ext cx="837981" cy="767687"/>
          </a:xfrm>
          <a:prstGeom prst="rect">
            <a:avLst/>
          </a:prstGeom>
        </p:spPr>
        <p:txBody>
          <a:bodyPr vert="horz" lIns="91440" tIns="45720" rIns="91440" bIns="45720" rtlCol="0" anchor="b"/>
          <a:lstStyle>
            <a:lvl1pPr algn="ctr">
              <a:defRPr sz="2799"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23041251"/>
      </p:ext>
    </p:extLst>
  </p:cSld>
  <p:clrMap bg1="dk1" tx1="lt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Lst>
  <p:txStyles>
    <p:titleStyle>
      <a:lvl1pPr algn="l" defTabSz="457063" rtl="0" eaLnBrk="1" latinLnBrk="0" hangingPunct="1">
        <a:spcBef>
          <a:spcPct val="0"/>
        </a:spcBef>
        <a:buNone/>
        <a:defRPr sz="4199"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797" indent="-342797" algn="l" defTabSz="457063" rtl="0" eaLnBrk="1" latinLnBrk="0" hangingPunct="1">
        <a:spcBef>
          <a:spcPts val="1000"/>
        </a:spcBef>
        <a:spcAft>
          <a:spcPts val="0"/>
        </a:spcAft>
        <a:buClr>
          <a:schemeClr val="bg2">
            <a:lumMod val="40000"/>
            <a:lumOff val="60000"/>
          </a:schemeClr>
        </a:buClr>
        <a:buSzPct val="80000"/>
        <a:buFont typeface="Wingdings 3" charset="2"/>
        <a:buChar char=""/>
        <a:defRPr sz="1999" b="0" i="0" kern="1200">
          <a:solidFill>
            <a:schemeClr val="tx1"/>
          </a:solidFill>
          <a:latin typeface="+mj-lt"/>
          <a:ea typeface="+mj-ea"/>
          <a:cs typeface="+mj-cs"/>
        </a:defRPr>
      </a:lvl1pPr>
      <a:lvl2pPr marL="742727" indent="-285664" algn="l" defTabSz="457063" rtl="0" eaLnBrk="1" latinLnBrk="0" hangingPunct="1">
        <a:spcBef>
          <a:spcPts val="1000"/>
        </a:spcBef>
        <a:spcAft>
          <a:spcPts val="0"/>
        </a:spcAft>
        <a:buClr>
          <a:schemeClr val="bg2">
            <a:lumMod val="40000"/>
            <a:lumOff val="60000"/>
          </a:schemeClr>
        </a:buClr>
        <a:buSzPct val="80000"/>
        <a:buFont typeface="Wingdings 3" charset="2"/>
        <a:buChar char=""/>
        <a:defRPr sz="1799" b="0" i="0" kern="1200">
          <a:solidFill>
            <a:schemeClr val="tx1"/>
          </a:solidFill>
          <a:latin typeface="+mj-lt"/>
          <a:ea typeface="+mj-ea"/>
          <a:cs typeface="+mj-cs"/>
        </a:defRPr>
      </a:lvl2pPr>
      <a:lvl3pPr marL="1142657"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599720"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6783"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5248"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0908"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7971"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5034"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063" rtl="0" eaLnBrk="1" latinLnBrk="0" hangingPunct="1">
        <a:defRPr sz="1799" kern="1200">
          <a:solidFill>
            <a:schemeClr val="tx1"/>
          </a:solidFill>
          <a:latin typeface="+mn-lt"/>
          <a:ea typeface="+mn-ea"/>
          <a:cs typeface="+mn-cs"/>
        </a:defRPr>
      </a:lvl1pPr>
      <a:lvl2pPr marL="457063" algn="l" defTabSz="457063" rtl="0" eaLnBrk="1" latinLnBrk="0" hangingPunct="1">
        <a:defRPr sz="1799" kern="1200">
          <a:solidFill>
            <a:schemeClr val="tx1"/>
          </a:solidFill>
          <a:latin typeface="+mn-lt"/>
          <a:ea typeface="+mn-ea"/>
          <a:cs typeface="+mn-cs"/>
        </a:defRPr>
      </a:lvl2pPr>
      <a:lvl3pPr marL="914126" algn="l" defTabSz="457063" rtl="0" eaLnBrk="1" latinLnBrk="0" hangingPunct="1">
        <a:defRPr sz="1799" kern="1200">
          <a:solidFill>
            <a:schemeClr val="tx1"/>
          </a:solidFill>
          <a:latin typeface="+mn-lt"/>
          <a:ea typeface="+mn-ea"/>
          <a:cs typeface="+mn-cs"/>
        </a:defRPr>
      </a:lvl3pPr>
      <a:lvl4pPr marL="1371189" algn="l" defTabSz="457063" rtl="0" eaLnBrk="1" latinLnBrk="0" hangingPunct="1">
        <a:defRPr sz="1799" kern="1200">
          <a:solidFill>
            <a:schemeClr val="tx1"/>
          </a:solidFill>
          <a:latin typeface="+mn-lt"/>
          <a:ea typeface="+mn-ea"/>
          <a:cs typeface="+mn-cs"/>
        </a:defRPr>
      </a:lvl4pPr>
      <a:lvl5pPr marL="1828251" algn="l" defTabSz="457063" rtl="0" eaLnBrk="1" latinLnBrk="0" hangingPunct="1">
        <a:defRPr sz="1799" kern="1200">
          <a:solidFill>
            <a:schemeClr val="tx1"/>
          </a:solidFill>
          <a:latin typeface="+mn-lt"/>
          <a:ea typeface="+mn-ea"/>
          <a:cs typeface="+mn-cs"/>
        </a:defRPr>
      </a:lvl5pPr>
      <a:lvl6pPr marL="2285314" algn="l" defTabSz="457063" rtl="0" eaLnBrk="1" latinLnBrk="0" hangingPunct="1">
        <a:defRPr sz="1799" kern="1200">
          <a:solidFill>
            <a:schemeClr val="tx1"/>
          </a:solidFill>
          <a:latin typeface="+mn-lt"/>
          <a:ea typeface="+mn-ea"/>
          <a:cs typeface="+mn-cs"/>
        </a:defRPr>
      </a:lvl6pPr>
      <a:lvl7pPr marL="2742377" algn="l" defTabSz="457063" rtl="0" eaLnBrk="1" latinLnBrk="0" hangingPunct="1">
        <a:defRPr sz="1799" kern="1200">
          <a:solidFill>
            <a:schemeClr val="tx1"/>
          </a:solidFill>
          <a:latin typeface="+mn-lt"/>
          <a:ea typeface="+mn-ea"/>
          <a:cs typeface="+mn-cs"/>
        </a:defRPr>
      </a:lvl7pPr>
      <a:lvl8pPr marL="3199440" algn="l" defTabSz="457063" rtl="0" eaLnBrk="1" latinLnBrk="0" hangingPunct="1">
        <a:defRPr sz="1799" kern="1200">
          <a:solidFill>
            <a:schemeClr val="tx1"/>
          </a:solidFill>
          <a:latin typeface="+mn-lt"/>
          <a:ea typeface="+mn-ea"/>
          <a:cs typeface="+mn-cs"/>
        </a:defRPr>
      </a:lvl8pPr>
      <a:lvl9pPr marL="3656503" algn="l" defTabSz="457063"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4864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8445838" cy="461665"/>
          </a:xfrm>
          <a:prstGeom prst="rect">
            <a:avLst/>
          </a:prstGeom>
          <a:noFill/>
        </p:spPr>
        <p:txBody>
          <a:bodyPr wrap="none">
            <a:spAutoFit/>
          </a:bodyPr>
          <a:lstStyle/>
          <a:p>
            <a:pPr>
              <a:defRPr sz="2400" b="1">
                <a:solidFill>
                  <a:srgbClr val="FFFFFF"/>
                </a:solidFill>
              </a:defRPr>
            </a:pPr>
            <a:r>
              <a:rPr dirty="0">
                <a:latin typeface="Calibri" panose="020F0502020204030204" pitchFamily="34" charset="0"/>
                <a:ea typeface="Calibri" panose="020F0502020204030204" pitchFamily="34" charset="0"/>
                <a:cs typeface="Calibri" panose="020F0502020204030204" pitchFamily="34" charset="0"/>
              </a:rPr>
              <a:t>OLIST BRAZILIAN E-COMMERCE BUSINESS INTELLIGENCE REPORT</a:t>
            </a:r>
          </a:p>
        </p:txBody>
      </p:sp>
      <p:sp>
        <p:nvSpPr>
          <p:cNvPr id="4" name="TextBox 3"/>
          <p:cNvSpPr txBox="1"/>
          <p:nvPr/>
        </p:nvSpPr>
        <p:spPr>
          <a:xfrm>
            <a:off x="2299146" y="1088431"/>
            <a:ext cx="6944245" cy="2339102"/>
          </a:xfrm>
          <a:prstGeom prst="rect">
            <a:avLst/>
          </a:prstGeom>
          <a:noFill/>
        </p:spPr>
        <p:txBody>
          <a:bodyPr wrap="square">
            <a:spAutoFit/>
          </a:bodyPr>
          <a:lstStyle/>
          <a:p>
            <a:pPr algn="ctr">
              <a:defRPr sz="1800"/>
            </a:pPr>
            <a:r>
              <a:rPr lang="en-US" sz="2800" b="1" dirty="0">
                <a:latin typeface="Calibri" panose="020F0502020204030204" pitchFamily="34" charset="0"/>
                <a:ea typeface="Calibri" panose="020F0502020204030204" pitchFamily="34" charset="0"/>
                <a:cs typeface="Calibri" panose="020F0502020204030204" pitchFamily="34" charset="0"/>
              </a:rPr>
              <a:t>Prepared  by</a:t>
            </a:r>
          </a:p>
          <a:p>
            <a:pPr algn="ctr">
              <a:defRPr sz="1800"/>
            </a:pPr>
            <a:endParaRPr lang="en-US" sz="2800" b="1" dirty="0">
              <a:latin typeface="Calibri" panose="020F0502020204030204" pitchFamily="34" charset="0"/>
              <a:ea typeface="Calibri" panose="020F0502020204030204" pitchFamily="34" charset="0"/>
              <a:cs typeface="Calibri" panose="020F0502020204030204" pitchFamily="34" charset="0"/>
            </a:endParaRPr>
          </a:p>
          <a:p>
            <a:pPr algn="ctr">
              <a:defRPr sz="1800"/>
            </a:pPr>
            <a:endParaRPr lang="en-US" sz="3600" b="1" dirty="0">
              <a:latin typeface="Calibri" panose="020F0502020204030204" pitchFamily="34" charset="0"/>
              <a:ea typeface="Calibri" panose="020F0502020204030204" pitchFamily="34" charset="0"/>
              <a:cs typeface="Calibri" panose="020F0502020204030204" pitchFamily="34" charset="0"/>
            </a:endParaRPr>
          </a:p>
          <a:p>
            <a:pPr algn="ctr">
              <a:defRPr sz="1800"/>
            </a:pPr>
            <a:r>
              <a:rPr lang="en-US" sz="3600" b="1" i="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George Prince </a:t>
            </a:r>
            <a:r>
              <a:rPr lang="en-US" sz="3600" b="1" i="1" dirty="0" err="1">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Godspower</a:t>
            </a:r>
            <a:endParaRPr lang="en-US" sz="3600" b="1" i="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a:p>
            <a:pPr>
              <a:defRPr sz="1800"/>
            </a:pPr>
            <a:endParaRPr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4864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2687659" cy="461665"/>
          </a:xfrm>
          <a:prstGeom prst="rect">
            <a:avLst/>
          </a:prstGeom>
          <a:noFill/>
        </p:spPr>
        <p:txBody>
          <a:bodyPr wrap="none">
            <a:spAutoFit/>
          </a:bodyPr>
          <a:lstStyle/>
          <a:p>
            <a:pPr>
              <a:defRPr sz="2400" b="1">
                <a:solidFill>
                  <a:srgbClr val="FFFFFF"/>
                </a:solidFill>
              </a:defRPr>
            </a:pPr>
            <a:r>
              <a:rPr dirty="0">
                <a:latin typeface="Calibri" panose="020F0502020204030204" pitchFamily="34" charset="0"/>
                <a:ea typeface="Calibri" panose="020F0502020204030204" pitchFamily="34" charset="0"/>
                <a:cs typeface="Calibri" panose="020F0502020204030204" pitchFamily="34" charset="0"/>
              </a:rPr>
              <a:t>Executive Summary</a:t>
            </a:r>
          </a:p>
        </p:txBody>
      </p:sp>
      <p:sp>
        <p:nvSpPr>
          <p:cNvPr id="4" name="TextBox 3"/>
          <p:cNvSpPr txBox="1"/>
          <p:nvPr/>
        </p:nvSpPr>
        <p:spPr>
          <a:xfrm>
            <a:off x="145309" y="730432"/>
            <a:ext cx="11928704" cy="5493812"/>
          </a:xfrm>
          <a:prstGeom prst="rect">
            <a:avLst/>
          </a:prstGeom>
          <a:noFill/>
        </p:spPr>
        <p:txBody>
          <a:bodyPr wrap="square">
            <a:spAutoFit/>
          </a:bodyPr>
          <a:lstStyle/>
          <a:p>
            <a:pPr>
              <a:lnSpc>
                <a:spcPct val="150000"/>
              </a:lnSpc>
            </a:pPr>
            <a:r>
              <a:rPr lang="en-US" b="1" dirty="0">
                <a:solidFill>
                  <a:srgbClr val="E6E6E6"/>
                </a:solidFill>
                <a:latin typeface="Calibri" panose="020F0502020204030204" pitchFamily="34" charset="0"/>
                <a:ea typeface="Calibri" panose="020F0502020204030204" pitchFamily="34" charset="0"/>
                <a:cs typeface="Calibri" panose="020F0502020204030204" pitchFamily="34" charset="0"/>
              </a:rPr>
              <a:t>During  visual Analysis the  following was observed:</a:t>
            </a:r>
          </a:p>
          <a:p>
            <a:pPr>
              <a:lnSpc>
                <a:spcPct val="150000"/>
              </a:lnSpc>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50000"/>
              </a:lnSpc>
              <a:buFont typeface="Wingdings" panose="05000000000000000000" pitchFamily="2" charset="2"/>
              <a:buChar char="Ø"/>
            </a:pPr>
            <a:r>
              <a:rPr lang="en-US" b="1" dirty="0">
                <a:solidFill>
                  <a:srgbClr val="E6E6E6"/>
                </a:solidFill>
                <a:effectLst/>
                <a:latin typeface="Calibri" panose="020F0502020204030204" pitchFamily="34" charset="0"/>
                <a:ea typeface="Calibri" panose="020F0502020204030204" pitchFamily="34" charset="0"/>
                <a:cs typeface="Calibri" panose="020F0502020204030204" pitchFamily="34" charset="0"/>
              </a:rPr>
              <a:t>At 14.98M Total Revenue has exceeded the target goal of 7.80M, similar case is seen in the other cards showing all Revenue target has been exceeded quite significantly. </a:t>
            </a: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50000"/>
              </a:lnSpc>
              <a:buFont typeface="Wingdings" panose="05000000000000000000" pitchFamily="2" charset="2"/>
              <a:buChar char="Ø"/>
            </a:pPr>
            <a:r>
              <a:rPr lang="en-US" b="1" dirty="0">
                <a:solidFill>
                  <a:srgbClr val="E6E6E6"/>
                </a:solidFill>
                <a:effectLst/>
                <a:latin typeface="Calibri" panose="020F0502020204030204" pitchFamily="34" charset="0"/>
                <a:ea typeface="Calibri" panose="020F0502020204030204" pitchFamily="34" charset="0"/>
                <a:cs typeface="Calibri" panose="020F0502020204030204" pitchFamily="34" charset="0"/>
              </a:rPr>
              <a:t> Compared to last year we can see a general increase in revenue, with Electronics having the highest  at 25.37% and home appliance being the lowest at  24.77.</a:t>
            </a: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50000"/>
              </a:lnSpc>
              <a:buFont typeface="Wingdings" panose="05000000000000000000" pitchFamily="2" charset="2"/>
              <a:buChar char="Ø"/>
            </a:pPr>
            <a:r>
              <a:rPr lang="en-US" b="1" dirty="0">
                <a:solidFill>
                  <a:srgbClr val="E6E6E6"/>
                </a:solidFill>
                <a:effectLst/>
                <a:latin typeface="Calibri" panose="020F0502020204030204" pitchFamily="34" charset="0"/>
                <a:ea typeface="Calibri" panose="020F0502020204030204" pitchFamily="34" charset="0"/>
                <a:cs typeface="Calibri" panose="020F0502020204030204" pitchFamily="34" charset="0"/>
              </a:rPr>
              <a:t> Electronics remains the largest  category by Revenue &amp; profit while  home experience  a  slight decline in revenue. </a:t>
            </a: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50000"/>
              </a:lnSpc>
              <a:buFont typeface="Wingdings" panose="05000000000000000000" pitchFamily="2" charset="2"/>
              <a:buChar char="Ø"/>
            </a:pPr>
            <a:r>
              <a:rPr lang="en-US" b="1" dirty="0">
                <a:solidFill>
                  <a:srgbClr val="E6E6E6"/>
                </a:solidFill>
                <a:effectLst/>
                <a:latin typeface="Calibri" panose="020F0502020204030204" pitchFamily="34" charset="0"/>
                <a:ea typeface="Calibri" panose="020F0502020204030204" pitchFamily="34" charset="0"/>
                <a:cs typeface="Calibri" panose="020F0502020204030204" pitchFamily="34" charset="0"/>
              </a:rPr>
              <a:t>Saint </a:t>
            </a:r>
            <a:r>
              <a:rPr lang="en-US" b="1" dirty="0" err="1">
                <a:solidFill>
                  <a:srgbClr val="E6E6E6"/>
                </a:solidFill>
                <a:effectLst/>
                <a:latin typeface="Calibri" panose="020F0502020204030204" pitchFamily="34" charset="0"/>
                <a:ea typeface="Calibri" panose="020F0502020204030204" pitchFamily="34" charset="0"/>
                <a:cs typeface="Calibri" panose="020F0502020204030204" pitchFamily="34" charset="0"/>
              </a:rPr>
              <a:t>paulo</a:t>
            </a:r>
            <a:r>
              <a:rPr lang="en-US" b="1" dirty="0">
                <a:solidFill>
                  <a:srgbClr val="E6E6E6"/>
                </a:solidFill>
                <a:effectLst/>
                <a:latin typeface="Calibri" panose="020F0502020204030204" pitchFamily="34" charset="0"/>
                <a:ea typeface="Calibri" panose="020F0502020204030204" pitchFamily="34" charset="0"/>
                <a:cs typeface="Calibri" panose="020F0502020204030204" pitchFamily="34" charset="0"/>
              </a:rPr>
              <a:t>(SP) remains the region with the highest sales.</a:t>
            </a: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50000"/>
              </a:lnSpc>
              <a:buFont typeface="Wingdings" panose="05000000000000000000" pitchFamily="2" charset="2"/>
              <a:buChar char="Ø"/>
            </a:pPr>
            <a:r>
              <a:rPr lang="en-US" b="1" dirty="0">
                <a:solidFill>
                  <a:srgbClr val="E6E6E6"/>
                </a:solidFill>
                <a:effectLst/>
                <a:latin typeface="Calibri" panose="020F0502020204030204" pitchFamily="34" charset="0"/>
                <a:ea typeface="Calibri" panose="020F0502020204030204" pitchFamily="34" charset="0"/>
                <a:cs typeface="Calibri" panose="020F0502020204030204" pitchFamily="34" charset="0"/>
              </a:rPr>
              <a:t>Customer acquisition has improved significantly as the CLV also improved, total customer per annum and AVO has all exceeded their target, but for the repeat purchase rate we’re yet to see a significant increase.</a:t>
            </a:r>
            <a:endParaRPr lang="en-US" dirty="0">
              <a:latin typeface="Calibri" panose="020F0502020204030204" pitchFamily="34" charset="0"/>
              <a:ea typeface="Calibri" panose="020F0502020204030204" pitchFamily="34" charset="0"/>
              <a:cs typeface="Calibri" panose="020F0502020204030204" pitchFamily="34" charset="0"/>
            </a:endParaRPr>
          </a:p>
          <a:p>
            <a:pPr>
              <a:defRPr sz="1800"/>
            </a:pPr>
            <a:endParaRPr lang="en-US" dirty="0">
              <a:latin typeface="Calibri" panose="020F0502020204030204" pitchFamily="34" charset="0"/>
              <a:ea typeface="Calibri" panose="020F0502020204030204" pitchFamily="34" charset="0"/>
              <a:cs typeface="Calibri" panose="020F0502020204030204" pitchFamily="34" charset="0"/>
            </a:endParaRPr>
          </a:p>
          <a:p>
            <a:pPr>
              <a:defRPr sz="1800"/>
            </a:pPr>
            <a:endParaRPr lang="en-US" dirty="0">
              <a:latin typeface="Calibri" panose="020F0502020204030204" pitchFamily="34" charset="0"/>
              <a:ea typeface="Calibri" panose="020F0502020204030204" pitchFamily="34" charset="0"/>
              <a:cs typeface="Calibri" panose="020F0502020204030204" pitchFamily="34" charset="0"/>
            </a:endParaRPr>
          </a:p>
          <a:p>
            <a:pPr>
              <a:defRPr sz="1800"/>
            </a:pPr>
            <a:endParaRPr lang="en-US"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4864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2698496" cy="461665"/>
          </a:xfrm>
          <a:prstGeom prst="rect">
            <a:avLst/>
          </a:prstGeom>
          <a:noFill/>
        </p:spPr>
        <p:txBody>
          <a:bodyPr wrap="none">
            <a:spAutoFit/>
          </a:bodyPr>
          <a:lstStyle/>
          <a:p>
            <a:pPr>
              <a:defRPr sz="2400" b="1">
                <a:solidFill>
                  <a:srgbClr val="FFFFFF"/>
                </a:solidFill>
              </a:defRPr>
            </a:pPr>
            <a:r>
              <a:rPr dirty="0">
                <a:latin typeface="Calibri" panose="020F0502020204030204" pitchFamily="34" charset="0"/>
                <a:ea typeface="Calibri" panose="020F0502020204030204" pitchFamily="34" charset="0"/>
                <a:cs typeface="Calibri" panose="020F0502020204030204" pitchFamily="34" charset="0"/>
              </a:rPr>
              <a:t>Business Objectives</a:t>
            </a:r>
          </a:p>
        </p:txBody>
      </p:sp>
      <p:sp>
        <p:nvSpPr>
          <p:cNvPr id="4" name="TextBox 3"/>
          <p:cNvSpPr txBox="1"/>
          <p:nvPr/>
        </p:nvSpPr>
        <p:spPr>
          <a:xfrm>
            <a:off x="0" y="640080"/>
            <a:ext cx="12119998" cy="6740307"/>
          </a:xfrm>
          <a:prstGeom prst="rect">
            <a:avLst/>
          </a:prstGeom>
          <a:noFill/>
        </p:spPr>
        <p:txBody>
          <a:bodyPr wrap="square">
            <a:spAutoFit/>
          </a:bodyPr>
          <a:lstStyle/>
          <a:p>
            <a:pPr>
              <a:defRPr sz="1800"/>
            </a:pPr>
            <a:r>
              <a:rPr lang="en-US" dirty="0">
                <a:latin typeface="Calibri" panose="020F0502020204030204" pitchFamily="34" charset="0"/>
                <a:ea typeface="Calibri" panose="020F0502020204030204" pitchFamily="34" charset="0"/>
                <a:cs typeface="Calibri" panose="020F0502020204030204" pitchFamily="34" charset="0"/>
              </a:rPr>
              <a:t>The objective of this analysis  for the </a:t>
            </a:r>
            <a:r>
              <a:rPr lang="en-US" dirty="0" err="1">
                <a:latin typeface="Calibri" panose="020F0502020204030204" pitchFamily="34" charset="0"/>
                <a:ea typeface="Calibri" panose="020F0502020204030204" pitchFamily="34" charset="0"/>
                <a:cs typeface="Calibri" panose="020F0502020204030204" pitchFamily="34" charset="0"/>
              </a:rPr>
              <a:t>Olist</a:t>
            </a:r>
            <a:r>
              <a:rPr lang="en-US" dirty="0">
                <a:latin typeface="Calibri" panose="020F0502020204030204" pitchFamily="34" charset="0"/>
                <a:ea typeface="Calibri" panose="020F0502020204030204" pitchFamily="34" charset="0"/>
                <a:cs typeface="Calibri" panose="020F0502020204030204" pitchFamily="34" charset="0"/>
              </a:rPr>
              <a:t> store is to know and proffer solution to the following</a:t>
            </a:r>
          </a:p>
          <a:p>
            <a:pPr marL="285750" indent="-285750" algn="just">
              <a:lnSpc>
                <a:spcPct val="150000"/>
              </a:lnSpc>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Identify  the  product  performance</a:t>
            </a:r>
          </a:p>
          <a:p>
            <a:pPr marL="285750" indent="-285750" algn="just">
              <a:lnSpc>
                <a:spcPct val="150000"/>
              </a:lnSpc>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Identify  top selling product and bottom product</a:t>
            </a:r>
          </a:p>
          <a:p>
            <a:pPr marL="285750" indent="-285750" algn="just">
              <a:lnSpc>
                <a:spcPct val="150000"/>
              </a:lnSpc>
              <a:buFont typeface="Wingdings" panose="05000000000000000000" pitchFamily="2" charset="2"/>
              <a:buChar char="Ø"/>
            </a:pP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Customer Lifetime Value (CLV)</a:t>
            </a:r>
          </a:p>
          <a:p>
            <a:pPr marL="285750" indent="-285750" algn="just">
              <a:lnSpc>
                <a:spcPct val="150000"/>
              </a:lnSpc>
              <a:buFont typeface="Wingdings" panose="05000000000000000000" pitchFamily="2" charset="2"/>
              <a:buChar char="Ø"/>
            </a:pP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Total customer per annum</a:t>
            </a:r>
          </a:p>
          <a:p>
            <a:pPr marL="285750" indent="-285750" algn="just">
              <a:lnSpc>
                <a:spcPct val="150000"/>
              </a:lnSpc>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Average profit per annum</a:t>
            </a:r>
          </a:p>
          <a:p>
            <a:pPr marL="285750" indent="-285750" algn="just">
              <a:lnSpc>
                <a:spcPct val="150000"/>
              </a:lnSpc>
              <a:buFont typeface="Wingdings" panose="05000000000000000000" pitchFamily="2" charset="2"/>
              <a:buChar char="Ø"/>
            </a:pP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Revenue Trend</a:t>
            </a:r>
          </a:p>
          <a:p>
            <a:pPr marL="285750" indent="-285750" algn="just">
              <a:lnSpc>
                <a:spcPct val="150000"/>
              </a:lnSpc>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Sales by Region</a:t>
            </a:r>
          </a:p>
          <a:p>
            <a:pPr marL="285750" indent="-285750" algn="just">
              <a:lnSpc>
                <a:spcPct val="150000"/>
              </a:lnSpc>
              <a:buFont typeface="Wingdings" panose="05000000000000000000" pitchFamily="2" charset="2"/>
              <a:buChar char="Ø"/>
            </a:pP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Gross Margin  </a:t>
            </a:r>
            <a:r>
              <a:rPr lang="en-US" dirty="0">
                <a:latin typeface="Calibri" panose="020F0502020204030204" pitchFamily="34" charset="0"/>
                <a:ea typeface="Calibri" panose="020F0502020204030204" pitchFamily="34" charset="0"/>
                <a:cs typeface="Calibri" panose="020F0502020204030204" pitchFamily="34" charset="0"/>
              </a:rPr>
              <a:t>per annum</a:t>
            </a:r>
          </a:p>
          <a:p>
            <a:pPr marL="285750" indent="-285750" algn="just">
              <a:lnSpc>
                <a:spcPct val="150000"/>
              </a:lnSpc>
              <a:buFont typeface="Wingdings" panose="05000000000000000000" pitchFamily="2" charset="2"/>
              <a:buChar char="Ø"/>
            </a:pP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Sum of rep</a:t>
            </a:r>
            <a:r>
              <a:rPr lang="en-US" dirty="0">
                <a:latin typeface="Calibri" panose="020F0502020204030204" pitchFamily="34" charset="0"/>
                <a:ea typeface="Calibri" panose="020F0502020204030204" pitchFamily="34" charset="0"/>
                <a:cs typeface="Calibri" panose="020F0502020204030204" pitchFamily="34" charset="0"/>
              </a:rPr>
              <a:t>eat customers </a:t>
            </a:r>
          </a:p>
          <a:p>
            <a:pPr marL="285750" indent="-285750" algn="just">
              <a:lnSpc>
                <a:spcPct val="150000"/>
              </a:lnSpc>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Returning Customers </a:t>
            </a:r>
          </a:p>
          <a:p>
            <a:pPr marL="285750" indent="-285750" algn="just">
              <a:lnSpc>
                <a:spcPct val="150000"/>
              </a:lnSpc>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Monthly  Sales  Trend</a:t>
            </a:r>
          </a:p>
          <a:p>
            <a:pPr marL="285750" indent="-285750" algn="just">
              <a:lnSpc>
                <a:spcPct val="150000"/>
              </a:lnSpc>
              <a:buFont typeface="Wingdings" panose="05000000000000000000" pitchFamily="2" charset="2"/>
              <a:buChar char="Ø"/>
            </a:pP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S</a:t>
            </a:r>
            <a:r>
              <a:rPr lang="en-US" dirty="0">
                <a:latin typeface="Calibri" panose="020F0502020204030204" pitchFamily="34" charset="0"/>
                <a:ea typeface="Calibri" panose="020F0502020204030204" pitchFamily="34" charset="0"/>
                <a:cs typeface="Calibri" panose="020F0502020204030204" pitchFamily="34" charset="0"/>
              </a:rPr>
              <a:t>ales  And Revenue by Category</a:t>
            </a:r>
            <a:endParaRPr lang="en-US"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285750" indent="-285750" algn="just">
              <a:lnSpc>
                <a:spcPct val="150000"/>
              </a:lnSpc>
              <a:buFont typeface="Wingdings" panose="05000000000000000000" pitchFamily="2" charset="2"/>
              <a:buChar char="Ø"/>
            </a:pP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Improve lead generation efficiency </a:t>
            </a:r>
          </a:p>
          <a:p>
            <a:pPr marL="285750" indent="-285750" algn="just">
              <a:lnSpc>
                <a:spcPct val="150000"/>
              </a:lnSpc>
              <a:buFont typeface="Wingdings" panose="05000000000000000000" pitchFamily="2" charset="2"/>
              <a:buChar char="Ø"/>
            </a:pP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Support data-driven marketing decisions</a:t>
            </a:r>
          </a:p>
          <a:p>
            <a:pPr>
              <a:defRPr sz="1800"/>
            </a:pPr>
            <a:endParaRPr lang="en-US" dirty="0">
              <a:latin typeface="Calibri" panose="020F0502020204030204" pitchFamily="34" charset="0"/>
              <a:ea typeface="Calibri" panose="020F0502020204030204" pitchFamily="34" charset="0"/>
              <a:cs typeface="Calibri" panose="020F0502020204030204" pitchFamily="34" charset="0"/>
            </a:endParaRPr>
          </a:p>
          <a:p>
            <a:pPr>
              <a:defRPr sz="1800"/>
            </a:pPr>
            <a:r>
              <a:rPr lang="en-US" dirty="0">
                <a:latin typeface="Calibri" panose="020F0502020204030204" pitchFamily="34" charset="0"/>
                <a:ea typeface="Calibri" panose="020F0502020204030204" pitchFamily="34" charset="0"/>
                <a:cs typeface="Calibri" panose="020F0502020204030204" pitchFamily="34" charset="0"/>
              </a:rPr>
              <a:t> </a:t>
            </a:r>
            <a:endParaRPr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4864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365760"/>
          </a:xfrm>
          <a:prstGeom prst="rect">
            <a:avLst/>
          </a:prstGeom>
          <a:noFill/>
        </p:spPr>
        <p:txBody>
          <a:bodyPr wrap="none">
            <a:spAutoFit/>
          </a:bodyPr>
          <a:lstStyle/>
          <a:p>
            <a:pPr>
              <a:defRPr sz="2400" b="1">
                <a:solidFill>
                  <a:srgbClr val="FFFFFF"/>
                </a:solidFill>
              </a:defRPr>
            </a:pPr>
            <a:r>
              <a:t>Dataset Overview</a:t>
            </a:r>
          </a:p>
        </p:txBody>
      </p:sp>
      <p:sp>
        <p:nvSpPr>
          <p:cNvPr id="6" name="TextBox 5">
            <a:extLst>
              <a:ext uri="{FF2B5EF4-FFF2-40B4-BE49-F238E27FC236}">
                <a16:creationId xmlns:a16="http://schemas.microsoft.com/office/drawing/2014/main" id="{B3781607-54A7-0086-C385-2826B2703662}"/>
              </a:ext>
            </a:extLst>
          </p:cNvPr>
          <p:cNvSpPr txBox="1"/>
          <p:nvPr/>
        </p:nvSpPr>
        <p:spPr>
          <a:xfrm>
            <a:off x="1" y="640080"/>
            <a:ext cx="12083844" cy="1703864"/>
          </a:xfrm>
          <a:prstGeom prst="rect">
            <a:avLst/>
          </a:prstGeom>
          <a:noFill/>
        </p:spPr>
        <p:txBody>
          <a:bodyPr wrap="square">
            <a:spAutoFit/>
          </a:bodyPr>
          <a:lstStyle/>
          <a:p>
            <a:pPr algn="just">
              <a:lnSpc>
                <a:spcPct val="150000"/>
              </a:lnSpc>
            </a:pPr>
            <a:r>
              <a:rPr lang="en-US" dirty="0">
                <a:solidFill>
                  <a:schemeClr val="tx1"/>
                </a:solidFill>
                <a:latin typeface="Georgia" panose="02040502050405020303" pitchFamily="18" charset="0"/>
                <a:ea typeface="Calibri" panose="020F0502020204030204" pitchFamily="34" charset="0"/>
                <a:cs typeface="Calibri" panose="020F0502020204030204" pitchFamily="34" charset="0"/>
              </a:rPr>
              <a:t>These are list of  data used for the </a:t>
            </a:r>
            <a:r>
              <a:rPr lang="en-US" dirty="0" err="1">
                <a:solidFill>
                  <a:schemeClr val="tx1"/>
                </a:solidFill>
                <a:latin typeface="Georgia" panose="02040502050405020303" pitchFamily="18" charset="0"/>
                <a:ea typeface="Calibri" panose="020F0502020204030204" pitchFamily="34" charset="0"/>
                <a:cs typeface="Calibri" panose="020F0502020204030204" pitchFamily="34" charset="0"/>
              </a:rPr>
              <a:t>Olist</a:t>
            </a:r>
            <a:r>
              <a:rPr lang="en-US" dirty="0">
                <a:solidFill>
                  <a:schemeClr val="tx1"/>
                </a:solidFill>
                <a:latin typeface="Georgia" panose="02040502050405020303" pitchFamily="18" charset="0"/>
                <a:ea typeface="Calibri" panose="020F0502020204030204" pitchFamily="34" charset="0"/>
                <a:cs typeface="Calibri" panose="020F0502020204030204" pitchFamily="34" charset="0"/>
              </a:rPr>
              <a:t> analysis:</a:t>
            </a:r>
          </a:p>
          <a:p>
            <a:pPr algn="just">
              <a:lnSpc>
                <a:spcPct val="150000"/>
              </a:lnSpc>
            </a:pPr>
            <a:r>
              <a:rPr lang="en-US" dirty="0" err="1">
                <a:solidFill>
                  <a:schemeClr val="tx1"/>
                </a:solidFill>
                <a:latin typeface="Georgia" panose="02040502050405020303" pitchFamily="18" charset="0"/>
                <a:ea typeface="Calibri" panose="020F0502020204030204" pitchFamily="34" charset="0"/>
                <a:cs typeface="Calibri" panose="020F0502020204030204" pitchFamily="34" charset="0"/>
              </a:rPr>
              <a:t>Olist</a:t>
            </a:r>
            <a:r>
              <a:rPr lang="en-US" dirty="0">
                <a:solidFill>
                  <a:schemeClr val="tx1"/>
                </a:solidFill>
                <a:latin typeface="Georgia" panose="02040502050405020303" pitchFamily="18" charset="0"/>
                <a:ea typeface="Calibri" panose="020F0502020204030204" pitchFamily="34" charset="0"/>
                <a:cs typeface="Calibri" panose="020F0502020204030204" pitchFamily="34" charset="0"/>
              </a:rPr>
              <a:t> </a:t>
            </a:r>
            <a:r>
              <a:rPr lang="en-US" dirty="0">
                <a:latin typeface="Georgia" panose="02040502050405020303" pitchFamily="18" charset="0"/>
                <a:ea typeface="Calibri" panose="020F0502020204030204" pitchFamily="34" charset="0"/>
                <a:cs typeface="Calibri" panose="020F0502020204030204" pitchFamily="34" charset="0"/>
              </a:rPr>
              <a:t>customers dataset, </a:t>
            </a:r>
            <a:r>
              <a:rPr lang="en-US" dirty="0" err="1">
                <a:solidFill>
                  <a:schemeClr val="tx1"/>
                </a:solidFill>
                <a:latin typeface="Georgia" panose="02040502050405020303" pitchFamily="18" charset="0"/>
                <a:ea typeface="Calibri" panose="020F0502020204030204" pitchFamily="34" charset="0"/>
                <a:cs typeface="Calibri" panose="020F0502020204030204" pitchFamily="34" charset="0"/>
              </a:rPr>
              <a:t>olist</a:t>
            </a:r>
            <a:r>
              <a:rPr lang="en-US" dirty="0">
                <a:solidFill>
                  <a:schemeClr val="tx1"/>
                </a:solidFill>
                <a:latin typeface="Georgia" panose="02040502050405020303" pitchFamily="18" charset="0"/>
                <a:ea typeface="Calibri" panose="020F0502020204030204" pitchFamily="34" charset="0"/>
                <a:cs typeface="Calibri" panose="020F0502020204030204" pitchFamily="34" charset="0"/>
              </a:rPr>
              <a:t> geolocation</a:t>
            </a:r>
            <a:r>
              <a:rPr lang="en-US" dirty="0">
                <a:latin typeface="Georgia" panose="02040502050405020303" pitchFamily="18" charset="0"/>
                <a:ea typeface="Calibri" panose="020F0502020204030204" pitchFamily="34" charset="0"/>
                <a:cs typeface="Calibri" panose="020F0502020204030204" pitchFamily="34" charset="0"/>
              </a:rPr>
              <a:t> </a:t>
            </a:r>
            <a:r>
              <a:rPr lang="en-US" dirty="0">
                <a:solidFill>
                  <a:schemeClr val="tx1"/>
                </a:solidFill>
                <a:latin typeface="Georgia" panose="02040502050405020303" pitchFamily="18" charset="0"/>
                <a:ea typeface="Calibri" panose="020F0502020204030204" pitchFamily="34" charset="0"/>
                <a:cs typeface="Calibri" panose="020F0502020204030204" pitchFamily="34" charset="0"/>
              </a:rPr>
              <a:t>dataset, </a:t>
            </a:r>
            <a:r>
              <a:rPr lang="en-US" dirty="0" err="1">
                <a:solidFill>
                  <a:schemeClr val="tx1"/>
                </a:solidFill>
                <a:latin typeface="Georgia" panose="02040502050405020303" pitchFamily="18" charset="0"/>
                <a:ea typeface="Calibri" panose="020F0502020204030204" pitchFamily="34" charset="0"/>
                <a:cs typeface="Calibri" panose="020F0502020204030204" pitchFamily="34" charset="0"/>
              </a:rPr>
              <a:t>olist</a:t>
            </a:r>
            <a:r>
              <a:rPr lang="en-US" dirty="0">
                <a:solidFill>
                  <a:schemeClr val="tx1"/>
                </a:solidFill>
                <a:latin typeface="Georgia" panose="02040502050405020303" pitchFamily="18" charset="0"/>
                <a:ea typeface="Calibri" panose="020F0502020204030204" pitchFamily="34" charset="0"/>
                <a:cs typeface="Calibri" panose="020F0502020204030204" pitchFamily="34" charset="0"/>
              </a:rPr>
              <a:t> order</a:t>
            </a:r>
            <a:r>
              <a:rPr lang="en-US" dirty="0">
                <a:latin typeface="Georgia" panose="02040502050405020303" pitchFamily="18" charset="0"/>
                <a:ea typeface="Calibri" panose="020F0502020204030204" pitchFamily="34" charset="0"/>
                <a:cs typeface="Calibri" panose="020F0502020204030204" pitchFamily="34" charset="0"/>
              </a:rPr>
              <a:t> </a:t>
            </a:r>
            <a:r>
              <a:rPr lang="en-US" dirty="0">
                <a:solidFill>
                  <a:schemeClr val="tx1"/>
                </a:solidFill>
                <a:latin typeface="Georgia" panose="02040502050405020303" pitchFamily="18" charset="0"/>
                <a:ea typeface="Calibri" panose="020F0502020204030204" pitchFamily="34" charset="0"/>
                <a:cs typeface="Calibri" panose="020F0502020204030204" pitchFamily="34" charset="0"/>
              </a:rPr>
              <a:t>items</a:t>
            </a:r>
            <a:r>
              <a:rPr lang="en-US" dirty="0">
                <a:latin typeface="Georgia" panose="02040502050405020303" pitchFamily="18" charset="0"/>
                <a:ea typeface="Calibri" panose="020F0502020204030204" pitchFamily="34" charset="0"/>
                <a:cs typeface="Calibri" panose="020F0502020204030204" pitchFamily="34" charset="0"/>
              </a:rPr>
              <a:t> </a:t>
            </a:r>
            <a:r>
              <a:rPr lang="en-US" dirty="0">
                <a:solidFill>
                  <a:schemeClr val="tx1"/>
                </a:solidFill>
                <a:latin typeface="Georgia" panose="02040502050405020303" pitchFamily="18" charset="0"/>
                <a:ea typeface="Calibri" panose="020F0502020204030204" pitchFamily="34" charset="0"/>
                <a:cs typeface="Calibri" panose="020F0502020204030204" pitchFamily="34" charset="0"/>
              </a:rPr>
              <a:t>dataset</a:t>
            </a:r>
            <a:r>
              <a:rPr lang="en-US" dirty="0">
                <a:latin typeface="Georgia" panose="02040502050405020303" pitchFamily="18" charset="0"/>
                <a:ea typeface="Calibri" panose="020F0502020204030204" pitchFamily="34" charset="0"/>
                <a:cs typeface="Calibri" panose="020F0502020204030204" pitchFamily="34" charset="0"/>
              </a:rPr>
              <a:t>, </a:t>
            </a:r>
            <a:r>
              <a:rPr lang="en-US" dirty="0" err="1">
                <a:latin typeface="Georgia" panose="02040502050405020303" pitchFamily="18" charset="0"/>
                <a:ea typeface="Calibri" panose="020F0502020204030204" pitchFamily="34" charset="0"/>
                <a:cs typeface="Calibri" panose="020F0502020204030204" pitchFamily="34" charset="0"/>
              </a:rPr>
              <a:t>o</a:t>
            </a:r>
            <a:r>
              <a:rPr lang="en-US" dirty="0" err="1">
                <a:solidFill>
                  <a:schemeClr val="tx1"/>
                </a:solidFill>
                <a:latin typeface="Georgia" panose="02040502050405020303" pitchFamily="18" charset="0"/>
                <a:ea typeface="Calibri" panose="020F0502020204030204" pitchFamily="34" charset="0"/>
                <a:cs typeface="Calibri" panose="020F0502020204030204" pitchFamily="34" charset="0"/>
              </a:rPr>
              <a:t>list</a:t>
            </a:r>
            <a:r>
              <a:rPr lang="en-US" dirty="0">
                <a:solidFill>
                  <a:schemeClr val="tx1"/>
                </a:solidFill>
                <a:latin typeface="Georgia" panose="02040502050405020303" pitchFamily="18" charset="0"/>
                <a:ea typeface="Calibri" panose="020F0502020204030204" pitchFamily="34" charset="0"/>
                <a:cs typeface="Calibri" panose="020F0502020204030204" pitchFamily="34" charset="0"/>
              </a:rPr>
              <a:t> order</a:t>
            </a:r>
            <a:r>
              <a:rPr lang="en-US" dirty="0">
                <a:latin typeface="Georgia" panose="02040502050405020303" pitchFamily="18" charset="0"/>
                <a:ea typeface="Calibri" panose="020F0502020204030204" pitchFamily="34" charset="0"/>
                <a:cs typeface="Calibri" panose="020F0502020204030204" pitchFamily="34" charset="0"/>
              </a:rPr>
              <a:t> </a:t>
            </a:r>
            <a:r>
              <a:rPr lang="en-US" dirty="0">
                <a:solidFill>
                  <a:schemeClr val="tx1"/>
                </a:solidFill>
                <a:latin typeface="Georgia" panose="02040502050405020303" pitchFamily="18" charset="0"/>
                <a:ea typeface="Calibri" panose="020F0502020204030204" pitchFamily="34" charset="0"/>
                <a:cs typeface="Calibri" panose="020F0502020204030204" pitchFamily="34" charset="0"/>
              </a:rPr>
              <a:t>payments</a:t>
            </a:r>
            <a:r>
              <a:rPr lang="en-US" dirty="0">
                <a:latin typeface="Georgia" panose="02040502050405020303" pitchFamily="18" charset="0"/>
                <a:ea typeface="Calibri" panose="020F0502020204030204" pitchFamily="34" charset="0"/>
                <a:cs typeface="Calibri" panose="020F0502020204030204" pitchFamily="34" charset="0"/>
              </a:rPr>
              <a:t> </a:t>
            </a:r>
            <a:r>
              <a:rPr lang="en-US" dirty="0" err="1">
                <a:solidFill>
                  <a:schemeClr val="tx1"/>
                </a:solidFill>
                <a:latin typeface="Georgia" panose="02040502050405020303" pitchFamily="18" charset="0"/>
                <a:ea typeface="Calibri" panose="020F0502020204030204" pitchFamily="34" charset="0"/>
                <a:cs typeface="Calibri" panose="020F0502020204030204" pitchFamily="34" charset="0"/>
              </a:rPr>
              <a:t>dataset,olist</a:t>
            </a:r>
            <a:r>
              <a:rPr lang="en-US" dirty="0">
                <a:solidFill>
                  <a:schemeClr val="tx1"/>
                </a:solidFill>
                <a:latin typeface="Georgia" panose="02040502050405020303" pitchFamily="18" charset="0"/>
                <a:ea typeface="Calibri" panose="020F0502020204030204" pitchFamily="34" charset="0"/>
                <a:cs typeface="Calibri" panose="020F0502020204030204" pitchFamily="34" charset="0"/>
              </a:rPr>
              <a:t> order</a:t>
            </a:r>
            <a:r>
              <a:rPr lang="en-US" dirty="0">
                <a:latin typeface="Georgia" panose="02040502050405020303" pitchFamily="18" charset="0"/>
                <a:ea typeface="Calibri" panose="020F0502020204030204" pitchFamily="34" charset="0"/>
                <a:cs typeface="Calibri" panose="020F0502020204030204" pitchFamily="34" charset="0"/>
              </a:rPr>
              <a:t> </a:t>
            </a:r>
            <a:r>
              <a:rPr lang="en-US" dirty="0">
                <a:solidFill>
                  <a:schemeClr val="tx1"/>
                </a:solidFill>
                <a:latin typeface="Georgia" panose="02040502050405020303" pitchFamily="18" charset="0"/>
                <a:ea typeface="Calibri" panose="020F0502020204030204" pitchFamily="34" charset="0"/>
                <a:cs typeface="Calibri" panose="020F0502020204030204" pitchFamily="34" charset="0"/>
              </a:rPr>
              <a:t>reviews</a:t>
            </a:r>
            <a:r>
              <a:rPr lang="en-US" dirty="0">
                <a:latin typeface="Georgia" panose="02040502050405020303" pitchFamily="18" charset="0"/>
                <a:ea typeface="Calibri" panose="020F0502020204030204" pitchFamily="34" charset="0"/>
                <a:cs typeface="Calibri" panose="020F0502020204030204" pitchFamily="34" charset="0"/>
              </a:rPr>
              <a:t> </a:t>
            </a:r>
            <a:r>
              <a:rPr lang="en-US" dirty="0">
                <a:solidFill>
                  <a:schemeClr val="tx1"/>
                </a:solidFill>
                <a:latin typeface="Georgia" panose="02040502050405020303" pitchFamily="18" charset="0"/>
                <a:ea typeface="Calibri" panose="020F0502020204030204" pitchFamily="34" charset="0"/>
                <a:cs typeface="Calibri" panose="020F0502020204030204" pitchFamily="34" charset="0"/>
              </a:rPr>
              <a:t>dataset, </a:t>
            </a:r>
            <a:r>
              <a:rPr lang="en-US" dirty="0" err="1">
                <a:solidFill>
                  <a:schemeClr val="tx1"/>
                </a:solidFill>
                <a:latin typeface="Georgia" panose="02040502050405020303" pitchFamily="18" charset="0"/>
                <a:ea typeface="Calibri" panose="020F0502020204030204" pitchFamily="34" charset="0"/>
                <a:cs typeface="Calibri" panose="020F0502020204030204" pitchFamily="34" charset="0"/>
              </a:rPr>
              <a:t>olist</a:t>
            </a:r>
            <a:r>
              <a:rPr lang="en-US" dirty="0">
                <a:solidFill>
                  <a:schemeClr val="tx1"/>
                </a:solidFill>
                <a:latin typeface="Georgia" panose="02040502050405020303" pitchFamily="18" charset="0"/>
                <a:ea typeface="Calibri" panose="020F0502020204030204" pitchFamily="34" charset="0"/>
                <a:cs typeface="Calibri" panose="020F0502020204030204" pitchFamily="34" charset="0"/>
              </a:rPr>
              <a:t> orders</a:t>
            </a:r>
            <a:r>
              <a:rPr lang="en-US" dirty="0">
                <a:latin typeface="Georgia" panose="02040502050405020303" pitchFamily="18" charset="0"/>
                <a:ea typeface="Calibri" panose="020F0502020204030204" pitchFamily="34" charset="0"/>
                <a:cs typeface="Calibri" panose="020F0502020204030204" pitchFamily="34" charset="0"/>
              </a:rPr>
              <a:t> </a:t>
            </a:r>
            <a:r>
              <a:rPr lang="en-US" dirty="0">
                <a:solidFill>
                  <a:schemeClr val="tx1"/>
                </a:solidFill>
                <a:latin typeface="Georgia" panose="02040502050405020303" pitchFamily="18" charset="0"/>
                <a:ea typeface="Calibri" panose="020F0502020204030204" pitchFamily="34" charset="0"/>
                <a:cs typeface="Calibri" panose="020F0502020204030204" pitchFamily="34" charset="0"/>
              </a:rPr>
              <a:t>dataset</a:t>
            </a:r>
            <a:r>
              <a:rPr lang="en-US" dirty="0">
                <a:latin typeface="Georgia" panose="02040502050405020303" pitchFamily="18" charset="0"/>
                <a:ea typeface="Calibri" panose="020F0502020204030204" pitchFamily="34" charset="0"/>
                <a:cs typeface="Calibri" panose="020F0502020204030204" pitchFamily="34" charset="0"/>
              </a:rPr>
              <a:t>, </a:t>
            </a:r>
            <a:r>
              <a:rPr lang="en-US" dirty="0" err="1">
                <a:latin typeface="Georgia" panose="02040502050405020303" pitchFamily="18" charset="0"/>
                <a:ea typeface="Calibri" panose="020F0502020204030204" pitchFamily="34" charset="0"/>
                <a:cs typeface="Calibri" panose="020F0502020204030204" pitchFamily="34" charset="0"/>
              </a:rPr>
              <a:t>o</a:t>
            </a:r>
            <a:r>
              <a:rPr lang="en-US" dirty="0" err="1">
                <a:solidFill>
                  <a:schemeClr val="tx1"/>
                </a:solidFill>
                <a:latin typeface="Georgia" panose="02040502050405020303" pitchFamily="18" charset="0"/>
                <a:ea typeface="Calibri" panose="020F0502020204030204" pitchFamily="34" charset="0"/>
                <a:cs typeface="Calibri" panose="020F0502020204030204" pitchFamily="34" charset="0"/>
              </a:rPr>
              <a:t>list</a:t>
            </a:r>
            <a:r>
              <a:rPr lang="en-US" dirty="0">
                <a:solidFill>
                  <a:schemeClr val="tx1"/>
                </a:solidFill>
                <a:latin typeface="Georgia" panose="02040502050405020303" pitchFamily="18" charset="0"/>
                <a:ea typeface="Calibri" panose="020F0502020204030204" pitchFamily="34" charset="0"/>
                <a:cs typeface="Calibri" panose="020F0502020204030204" pitchFamily="34" charset="0"/>
              </a:rPr>
              <a:t> products</a:t>
            </a:r>
            <a:r>
              <a:rPr lang="en-US" dirty="0">
                <a:latin typeface="Georgia" panose="02040502050405020303" pitchFamily="18" charset="0"/>
                <a:ea typeface="Calibri" panose="020F0502020204030204" pitchFamily="34" charset="0"/>
                <a:cs typeface="Calibri" panose="020F0502020204030204" pitchFamily="34" charset="0"/>
              </a:rPr>
              <a:t> </a:t>
            </a:r>
            <a:r>
              <a:rPr lang="en-US" dirty="0">
                <a:solidFill>
                  <a:schemeClr val="tx1"/>
                </a:solidFill>
                <a:latin typeface="Georgia" panose="02040502050405020303" pitchFamily="18" charset="0"/>
                <a:ea typeface="Calibri" panose="020F0502020204030204" pitchFamily="34" charset="0"/>
                <a:cs typeface="Calibri" panose="020F0502020204030204" pitchFamily="34" charset="0"/>
              </a:rPr>
              <a:t>dataset, </a:t>
            </a:r>
            <a:r>
              <a:rPr lang="en-US" dirty="0" err="1">
                <a:latin typeface="Georgia" panose="02040502050405020303" pitchFamily="18" charset="0"/>
                <a:ea typeface="Calibri" panose="020F0502020204030204" pitchFamily="34" charset="0"/>
                <a:cs typeface="Calibri" panose="020F0502020204030204" pitchFamily="34" charset="0"/>
              </a:rPr>
              <a:t>o</a:t>
            </a:r>
            <a:r>
              <a:rPr lang="en-US" dirty="0" err="1">
                <a:solidFill>
                  <a:schemeClr val="tx1"/>
                </a:solidFill>
                <a:latin typeface="Georgia" panose="02040502050405020303" pitchFamily="18" charset="0"/>
                <a:ea typeface="Calibri" panose="020F0502020204030204" pitchFamily="34" charset="0"/>
                <a:cs typeface="Calibri" panose="020F0502020204030204" pitchFamily="34" charset="0"/>
              </a:rPr>
              <a:t>list</a:t>
            </a:r>
            <a:r>
              <a:rPr lang="en-US" dirty="0">
                <a:solidFill>
                  <a:schemeClr val="tx1"/>
                </a:solidFill>
                <a:latin typeface="Georgia" panose="02040502050405020303" pitchFamily="18" charset="0"/>
                <a:ea typeface="Calibri" panose="020F0502020204030204" pitchFamily="34" charset="0"/>
                <a:cs typeface="Calibri" panose="020F0502020204030204" pitchFamily="34" charset="0"/>
              </a:rPr>
              <a:t> sellers dataset</a:t>
            </a:r>
            <a:r>
              <a:rPr lang="en-US" dirty="0">
                <a:latin typeface="Georgia" panose="02040502050405020303" pitchFamily="18" charset="0"/>
                <a:ea typeface="Calibri" panose="020F0502020204030204" pitchFamily="34" charset="0"/>
                <a:cs typeface="Calibri" panose="020F0502020204030204" pitchFamily="34" charset="0"/>
              </a:rPr>
              <a:t>, p</a:t>
            </a:r>
            <a:r>
              <a:rPr lang="en-US" dirty="0">
                <a:solidFill>
                  <a:schemeClr val="tx1"/>
                </a:solidFill>
                <a:latin typeface="Georgia" panose="02040502050405020303" pitchFamily="18" charset="0"/>
                <a:ea typeface="Calibri" panose="020F0502020204030204" pitchFamily="34" charset="0"/>
                <a:cs typeface="Calibri" panose="020F0502020204030204" pitchFamily="34" charset="0"/>
              </a:rPr>
              <a:t>roduct category</a:t>
            </a:r>
            <a:r>
              <a:rPr lang="en-US" dirty="0">
                <a:latin typeface="Georgia" panose="02040502050405020303" pitchFamily="18" charset="0"/>
                <a:ea typeface="Calibri" panose="020F0502020204030204" pitchFamily="34" charset="0"/>
                <a:cs typeface="Calibri" panose="020F0502020204030204" pitchFamily="34" charset="0"/>
              </a:rPr>
              <a:t> </a:t>
            </a:r>
            <a:r>
              <a:rPr lang="en-US" dirty="0">
                <a:solidFill>
                  <a:schemeClr val="tx1"/>
                </a:solidFill>
                <a:latin typeface="Georgia" panose="02040502050405020303" pitchFamily="18" charset="0"/>
                <a:ea typeface="Calibri" panose="020F0502020204030204" pitchFamily="34" charset="0"/>
                <a:cs typeface="Calibri" panose="020F0502020204030204" pitchFamily="34" charset="0"/>
              </a:rPr>
              <a:t>name</a:t>
            </a:r>
            <a:r>
              <a:rPr lang="en-US" dirty="0">
                <a:latin typeface="Georgia" panose="02040502050405020303" pitchFamily="18" charset="0"/>
                <a:ea typeface="Calibri" panose="020F0502020204030204" pitchFamily="34" charset="0"/>
                <a:cs typeface="Calibri" panose="020F0502020204030204" pitchFamily="34" charset="0"/>
              </a:rPr>
              <a:t> </a:t>
            </a:r>
            <a:r>
              <a:rPr lang="en-US" dirty="0">
                <a:solidFill>
                  <a:schemeClr val="tx1"/>
                </a:solidFill>
                <a:latin typeface="Georgia" panose="02040502050405020303" pitchFamily="18" charset="0"/>
                <a:ea typeface="Calibri" panose="020F0502020204030204" pitchFamily="34" charset="0"/>
                <a:cs typeface="Calibri" panose="020F0502020204030204" pitchFamily="34" charset="0"/>
              </a:rPr>
              <a:t>translation, product summary</a:t>
            </a:r>
            <a:r>
              <a:rPr lang="en-US" dirty="0">
                <a:latin typeface="Georgia" panose="02040502050405020303" pitchFamily="18" charset="0"/>
                <a:ea typeface="Calibri" panose="020F0502020204030204" pitchFamily="34" charset="0"/>
                <a:cs typeface="Calibri" panose="020F0502020204030204" pitchFamily="34" charset="0"/>
              </a:rPr>
              <a:t>, r</a:t>
            </a:r>
            <a:r>
              <a:rPr lang="en-US" dirty="0">
                <a:solidFill>
                  <a:schemeClr val="tx1"/>
                </a:solidFill>
                <a:latin typeface="Georgia" panose="02040502050405020303" pitchFamily="18" charset="0"/>
                <a:ea typeface="Calibri" panose="020F0502020204030204" pitchFamily="34" charset="0"/>
                <a:cs typeface="Calibri" panose="020F0502020204030204" pitchFamily="34" charset="0"/>
              </a:rPr>
              <a:t>egional sales, Returns </a:t>
            </a:r>
            <a:r>
              <a:rPr lang="en-US" dirty="0" err="1">
                <a:solidFill>
                  <a:schemeClr val="tx1"/>
                </a:solidFill>
                <a:latin typeface="Georgia" panose="02040502050405020303" pitchFamily="18" charset="0"/>
                <a:ea typeface="Calibri" panose="020F0502020204030204" pitchFamily="34" charset="0"/>
                <a:cs typeface="Calibri" panose="020F0502020204030204" pitchFamily="34" charset="0"/>
              </a:rPr>
              <a:t>summary</a:t>
            </a:r>
            <a:r>
              <a:rPr lang="en-US" dirty="0" err="1">
                <a:latin typeface="Georgia" panose="02040502050405020303" pitchFamily="18" charset="0"/>
                <a:ea typeface="Calibri" panose="020F0502020204030204" pitchFamily="34" charset="0"/>
                <a:cs typeface="Calibri" panose="020F0502020204030204" pitchFamily="34" charset="0"/>
              </a:rPr>
              <a:t>,</a:t>
            </a:r>
            <a:r>
              <a:rPr lang="en-US" dirty="0" err="1">
                <a:solidFill>
                  <a:schemeClr val="tx1"/>
                </a:solidFill>
                <a:latin typeface="Georgia" panose="02040502050405020303" pitchFamily="18" charset="0"/>
                <a:ea typeface="Calibri" panose="020F0502020204030204" pitchFamily="34" charset="0"/>
                <a:cs typeface="Calibri" panose="020F0502020204030204" pitchFamily="34" charset="0"/>
              </a:rPr>
              <a:t>Sales</a:t>
            </a:r>
            <a:r>
              <a:rPr lang="en-US" dirty="0">
                <a:latin typeface="Georgia" panose="02040502050405020303" pitchFamily="18" charset="0"/>
                <a:ea typeface="Calibri" panose="020F0502020204030204" pitchFamily="34" charset="0"/>
                <a:cs typeface="Calibri" panose="020F0502020204030204" pitchFamily="34" charset="0"/>
              </a:rPr>
              <a:t> </a:t>
            </a:r>
            <a:r>
              <a:rPr lang="en-US" dirty="0">
                <a:solidFill>
                  <a:schemeClr val="tx1"/>
                </a:solidFill>
                <a:latin typeface="Georgia" panose="02040502050405020303" pitchFamily="18" charset="0"/>
                <a:ea typeface="Calibri" panose="020F0502020204030204" pitchFamily="34" charset="0"/>
                <a:cs typeface="Calibri" panose="020F0502020204030204" pitchFamily="34" charset="0"/>
              </a:rPr>
              <a:t>by category, customer clv, cleaned ecommerce</a:t>
            </a:r>
            <a:r>
              <a:rPr lang="en-US" dirty="0">
                <a:latin typeface="Georgia" panose="02040502050405020303" pitchFamily="18" charset="0"/>
                <a:ea typeface="Calibri" panose="020F0502020204030204" pitchFamily="34" charset="0"/>
                <a:cs typeface="Calibri" panose="020F0502020204030204" pitchFamily="34" charset="0"/>
              </a:rPr>
              <a:t> </a:t>
            </a:r>
            <a:r>
              <a:rPr lang="en-US" dirty="0">
                <a:solidFill>
                  <a:schemeClr val="tx1"/>
                </a:solidFill>
                <a:latin typeface="Georgia" panose="02040502050405020303" pitchFamily="18" charset="0"/>
                <a:ea typeface="Calibri" panose="020F0502020204030204" pitchFamily="34" charset="0"/>
                <a:cs typeface="Calibri" panose="020F0502020204030204" pitchFamily="34" charset="0"/>
              </a:rPr>
              <a:t>sales</a:t>
            </a:r>
            <a:r>
              <a:rPr lang="en-US" dirty="0">
                <a:latin typeface="Georgia" panose="02040502050405020303" pitchFamily="18" charset="0"/>
                <a:ea typeface="Calibri" panose="020F0502020204030204" pitchFamily="34" charset="0"/>
                <a:cs typeface="Calibri" panose="020F0502020204030204" pitchFamily="34" charset="0"/>
              </a:rPr>
              <a:t> </a:t>
            </a:r>
            <a:r>
              <a:rPr lang="en-US" dirty="0">
                <a:solidFill>
                  <a:schemeClr val="tx1"/>
                </a:solidFill>
                <a:latin typeface="Georgia" panose="02040502050405020303" pitchFamily="18" charset="0"/>
                <a:ea typeface="Calibri" panose="020F0502020204030204" pitchFamily="34" charset="0"/>
                <a:cs typeface="Calibri" panose="020F0502020204030204" pitchFamily="34" charset="0"/>
              </a:rPr>
              <a:t>fixed</a:t>
            </a:r>
          </a:p>
        </p:txBody>
      </p:sp>
      <p:pic>
        <p:nvPicPr>
          <p:cNvPr id="8" name="Picture 7">
            <a:extLst>
              <a:ext uri="{FF2B5EF4-FFF2-40B4-BE49-F238E27FC236}">
                <a16:creationId xmlns:a16="http://schemas.microsoft.com/office/drawing/2014/main" id="{3E33E13B-FFBD-83FD-FC8F-96F33BAAF954}"/>
              </a:ext>
            </a:extLst>
          </p:cNvPr>
          <p:cNvPicPr>
            <a:picLocks noChangeAspect="1"/>
          </p:cNvPicPr>
          <p:nvPr/>
        </p:nvPicPr>
        <p:blipFill>
          <a:blip r:embed="rId2"/>
          <a:stretch>
            <a:fillRect/>
          </a:stretch>
        </p:blipFill>
        <p:spPr>
          <a:xfrm>
            <a:off x="1" y="2526823"/>
            <a:ext cx="5683044" cy="4331177"/>
          </a:xfrm>
          <a:prstGeom prst="rect">
            <a:avLst/>
          </a:prstGeom>
        </p:spPr>
      </p:pic>
      <p:pic>
        <p:nvPicPr>
          <p:cNvPr id="10" name="Picture 9">
            <a:extLst>
              <a:ext uri="{FF2B5EF4-FFF2-40B4-BE49-F238E27FC236}">
                <a16:creationId xmlns:a16="http://schemas.microsoft.com/office/drawing/2014/main" id="{D5F420C6-4660-A613-402B-11992930A07B}"/>
              </a:ext>
            </a:extLst>
          </p:cNvPr>
          <p:cNvPicPr>
            <a:picLocks noChangeAspect="1"/>
          </p:cNvPicPr>
          <p:nvPr/>
        </p:nvPicPr>
        <p:blipFill>
          <a:blip r:embed="rId3"/>
          <a:stretch>
            <a:fillRect/>
          </a:stretch>
        </p:blipFill>
        <p:spPr>
          <a:xfrm>
            <a:off x="5791199" y="2526823"/>
            <a:ext cx="6397625" cy="433117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4864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2879827" cy="461665"/>
          </a:xfrm>
          <a:prstGeom prst="rect">
            <a:avLst/>
          </a:prstGeom>
          <a:noFill/>
        </p:spPr>
        <p:txBody>
          <a:bodyPr wrap="none">
            <a:spAutoFit/>
          </a:bodyPr>
          <a:lstStyle/>
          <a:p>
            <a:pPr>
              <a:defRPr sz="2400" b="1">
                <a:solidFill>
                  <a:srgbClr val="FFFFFF"/>
                </a:solidFill>
              </a:defRPr>
            </a:pPr>
            <a:r>
              <a:rPr dirty="0">
                <a:latin typeface="Calibri" panose="020F0502020204030204" pitchFamily="34" charset="0"/>
                <a:ea typeface="Calibri" panose="020F0502020204030204" pitchFamily="34" charset="0"/>
                <a:cs typeface="Calibri" panose="020F0502020204030204" pitchFamily="34" charset="0"/>
              </a:rPr>
              <a:t>Project Methodology</a:t>
            </a:r>
          </a:p>
        </p:txBody>
      </p:sp>
      <p:sp>
        <p:nvSpPr>
          <p:cNvPr id="4" name="TextBox 3"/>
          <p:cNvSpPr txBox="1"/>
          <p:nvPr/>
        </p:nvSpPr>
        <p:spPr>
          <a:xfrm>
            <a:off x="492369" y="780791"/>
            <a:ext cx="7425732" cy="4524315"/>
          </a:xfrm>
          <a:prstGeom prst="rect">
            <a:avLst/>
          </a:prstGeom>
          <a:noFill/>
        </p:spPr>
        <p:txBody>
          <a:bodyPr wrap="square">
            <a:spAutoFit/>
          </a:bodyPr>
          <a:lstStyle/>
          <a:p>
            <a:pPr>
              <a:defRPr sz="1800"/>
            </a:pPr>
            <a:r>
              <a:rPr lang="en-US" dirty="0">
                <a:latin typeface="Calibri" panose="020F0502020204030204" pitchFamily="34" charset="0"/>
                <a:ea typeface="Calibri" panose="020F0502020204030204" pitchFamily="34" charset="0"/>
                <a:cs typeface="Calibri" panose="020F0502020204030204" pitchFamily="34" charset="0"/>
              </a:rPr>
              <a:t>The methodology  used  to  draw this meaningful insight and analysis  is as follows:</a:t>
            </a:r>
          </a:p>
          <a:p>
            <a:pPr marL="285750" indent="-285750">
              <a:buFont typeface="Wingdings" panose="05000000000000000000" pitchFamily="2" charset="2"/>
              <a:buChar char="Ø"/>
              <a:defRPr sz="1800"/>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defRPr sz="1800"/>
            </a:pPr>
            <a:r>
              <a:rPr lang="en-US" dirty="0">
                <a:latin typeface="Calibri" panose="020F0502020204030204" pitchFamily="34" charset="0"/>
                <a:ea typeface="Calibri" panose="020F0502020204030204" pitchFamily="34" charset="0"/>
                <a:cs typeface="Calibri" panose="020F0502020204030204" pitchFamily="34" charset="0"/>
              </a:rPr>
              <a:t>The data’s been obtain  was loaded on to  python </a:t>
            </a:r>
            <a:r>
              <a:rPr lang="en-US" dirty="0" err="1">
                <a:latin typeface="Calibri" panose="020F0502020204030204" pitchFamily="34" charset="0"/>
                <a:ea typeface="Calibri" panose="020F0502020204030204" pitchFamily="34" charset="0"/>
                <a:cs typeface="Calibri" panose="020F0502020204030204" pitchFamily="34" charset="0"/>
              </a:rPr>
              <a:t>jupyter</a:t>
            </a:r>
            <a:r>
              <a:rPr lang="en-US" dirty="0">
                <a:latin typeface="Calibri" panose="020F0502020204030204" pitchFamily="34" charset="0"/>
                <a:ea typeface="Calibri" panose="020F0502020204030204" pitchFamily="34" charset="0"/>
                <a:cs typeface="Calibri" panose="020F0502020204030204" pitchFamily="34" charset="0"/>
              </a:rPr>
              <a:t>  note book for cleaning.</a:t>
            </a:r>
          </a:p>
          <a:p>
            <a:pPr marL="285750" indent="-285750">
              <a:buFont typeface="Wingdings" panose="05000000000000000000" pitchFamily="2" charset="2"/>
              <a:buChar char="Ø"/>
              <a:defRPr sz="1800"/>
            </a:pPr>
            <a:r>
              <a:rPr lang="en-US" dirty="0">
                <a:latin typeface="Calibri" panose="020F0502020204030204" pitchFamily="34" charset="0"/>
                <a:ea typeface="Calibri" panose="020F0502020204030204" pitchFamily="34" charset="0"/>
                <a:cs typeface="Calibri" panose="020F0502020204030204" pitchFamily="34" charset="0"/>
              </a:rPr>
              <a:t>The data cleaning process includes removing null values, removing duplicate values and validating  data </a:t>
            </a:r>
            <a:r>
              <a:rPr lang="en-US" dirty="0" err="1">
                <a:latin typeface="Calibri" panose="020F0502020204030204" pitchFamily="34" charset="0"/>
                <a:ea typeface="Calibri" panose="020F0502020204030204" pitchFamily="34" charset="0"/>
                <a:cs typeface="Calibri" panose="020F0502020204030204" pitchFamily="34" charset="0"/>
              </a:rPr>
              <a:t>concistency</a:t>
            </a:r>
            <a:r>
              <a:rPr lang="en-US" dirty="0">
                <a:latin typeface="Calibri" panose="020F0502020204030204" pitchFamily="34" charset="0"/>
                <a:ea typeface="Calibri" panose="020F0502020204030204" pitchFamily="34" charset="0"/>
                <a:cs typeface="Calibri" panose="020F0502020204030204" pitchFamily="34" charset="0"/>
              </a:rPr>
              <a:t>.</a:t>
            </a:r>
          </a:p>
          <a:p>
            <a:pPr marL="285750" indent="-285750">
              <a:buFont typeface="Wingdings" panose="05000000000000000000" pitchFamily="2" charset="2"/>
              <a:buChar char="Ø"/>
              <a:defRPr sz="1800"/>
            </a:pPr>
            <a:r>
              <a:rPr lang="en-US" dirty="0">
                <a:latin typeface="Calibri" panose="020F0502020204030204" pitchFamily="34" charset="0"/>
                <a:ea typeface="Calibri" panose="020F0502020204030204" pitchFamily="34" charset="0"/>
                <a:cs typeface="Calibri" panose="020F0502020204030204" pitchFamily="34" charset="0"/>
              </a:rPr>
              <a:t>Python was also used for EDA (</a:t>
            </a:r>
            <a:r>
              <a:rPr lang="en-US" dirty="0" err="1">
                <a:latin typeface="Calibri" panose="020F0502020204030204" pitchFamily="34" charset="0"/>
                <a:ea typeface="Calibri" panose="020F0502020204030204" pitchFamily="34" charset="0"/>
                <a:cs typeface="Calibri" panose="020F0502020204030204" pitchFamily="34" charset="0"/>
              </a:rPr>
              <a:t>e.g</a:t>
            </a:r>
            <a:r>
              <a:rPr lang="en-US" dirty="0">
                <a:latin typeface="Calibri" panose="020F0502020204030204" pitchFamily="34" charset="0"/>
                <a:ea typeface="Calibri" panose="020F0502020204030204" pitchFamily="34" charset="0"/>
                <a:cs typeface="Calibri" panose="020F0502020204030204" pitchFamily="34" charset="0"/>
              </a:rPr>
              <a:t> Data  Type  conversion , outlier  detection, </a:t>
            </a:r>
            <a:r>
              <a:rPr lang="en-US" dirty="0" err="1">
                <a:latin typeface="Calibri" panose="020F0502020204030204" pitchFamily="34" charset="0"/>
                <a:ea typeface="Calibri" panose="020F0502020204030204" pitchFamily="34" charset="0"/>
                <a:cs typeface="Calibri" panose="020F0502020204030204" pitchFamily="34" charset="0"/>
              </a:rPr>
              <a:t>etc</a:t>
            </a:r>
            <a:r>
              <a:rPr lang="en-US" dirty="0">
                <a:latin typeface="Calibri" panose="020F0502020204030204" pitchFamily="34" charset="0"/>
                <a:ea typeface="Calibri" panose="020F0502020204030204" pitchFamily="34" charset="0"/>
                <a:cs typeface="Calibri" panose="020F0502020204030204" pitchFamily="34" charset="0"/>
              </a:rPr>
              <a:t>)</a:t>
            </a:r>
          </a:p>
          <a:p>
            <a:pPr marL="285750" indent="-285750">
              <a:buFont typeface="Wingdings" panose="05000000000000000000" pitchFamily="2" charset="2"/>
              <a:buChar char="Ø"/>
              <a:defRPr sz="1800"/>
            </a:pPr>
            <a:r>
              <a:rPr lang="en-US" dirty="0">
                <a:latin typeface="Calibri" panose="020F0502020204030204" pitchFamily="34" charset="0"/>
                <a:ea typeface="Calibri" panose="020F0502020204030204" pitchFamily="34" charset="0"/>
                <a:cs typeface="Calibri" panose="020F0502020204030204" pitchFamily="34" charset="0"/>
              </a:rPr>
              <a:t>Python was also used for Feature Engineering (</a:t>
            </a:r>
            <a:r>
              <a:rPr lang="en-US" dirty="0" err="1">
                <a:latin typeface="Calibri" panose="020F0502020204030204" pitchFamily="34" charset="0"/>
                <a:ea typeface="Calibri" panose="020F0502020204030204" pitchFamily="34" charset="0"/>
                <a:cs typeface="Calibri" panose="020F0502020204030204" pitchFamily="34" charset="0"/>
              </a:rPr>
              <a:t>e.g</a:t>
            </a:r>
            <a:r>
              <a:rPr lang="en-US" dirty="0">
                <a:latin typeface="Calibri" panose="020F0502020204030204" pitchFamily="34" charset="0"/>
                <a:ea typeface="Calibri" panose="020F0502020204030204" pitchFamily="34" charset="0"/>
                <a:cs typeface="Calibri" panose="020F0502020204030204" pitchFamily="34" charset="0"/>
              </a:rPr>
              <a:t> financial features, time and calendar, CLV,  </a:t>
            </a:r>
            <a:r>
              <a:rPr lang="en-US" dirty="0" err="1">
                <a:latin typeface="Calibri" panose="020F0502020204030204" pitchFamily="34" charset="0"/>
                <a:ea typeface="Calibri" panose="020F0502020204030204" pitchFamily="34" charset="0"/>
                <a:cs typeface="Calibri" panose="020F0502020204030204" pitchFamily="34" charset="0"/>
              </a:rPr>
              <a:t>etc</a:t>
            </a:r>
            <a:r>
              <a:rPr lang="en-US" dirty="0">
                <a:latin typeface="Calibri" panose="020F0502020204030204" pitchFamily="34" charset="0"/>
                <a:ea typeface="Calibri" panose="020F0502020204030204" pitchFamily="34" charset="0"/>
                <a:cs typeface="Calibri" panose="020F0502020204030204" pitchFamily="34" charset="0"/>
              </a:rPr>
              <a:t>).</a:t>
            </a:r>
          </a:p>
          <a:p>
            <a:pPr marL="285750" indent="-285750">
              <a:buFont typeface="Wingdings" panose="05000000000000000000" pitchFamily="2" charset="2"/>
              <a:buChar char="Ø"/>
              <a:defRPr sz="1800"/>
            </a:pPr>
            <a:r>
              <a:rPr lang="en-US" dirty="0">
                <a:latin typeface="Calibri" panose="020F0502020204030204" pitchFamily="34" charset="0"/>
                <a:ea typeface="Calibri" panose="020F0502020204030204" pitchFamily="34" charset="0"/>
                <a:cs typeface="Calibri" panose="020F0502020204030204" pitchFamily="34" charset="0"/>
              </a:rPr>
              <a:t>SQL  was used for  business analysis ( </a:t>
            </a:r>
            <a:r>
              <a:rPr lang="en-US" dirty="0" err="1">
                <a:latin typeface="Calibri" panose="020F0502020204030204" pitchFamily="34" charset="0"/>
                <a:ea typeface="Calibri" panose="020F0502020204030204" pitchFamily="34" charset="0"/>
                <a:cs typeface="Calibri" panose="020F0502020204030204" pitchFamily="34" charset="0"/>
              </a:rPr>
              <a:t>e.g</a:t>
            </a:r>
            <a:r>
              <a:rPr lang="en-US" dirty="0">
                <a:latin typeface="Calibri" panose="020F0502020204030204" pitchFamily="34" charset="0"/>
                <a:ea typeface="Calibri" panose="020F0502020204030204" pitchFamily="34" charset="0"/>
                <a:cs typeface="Calibri" panose="020F0502020204030204" pitchFamily="34" charset="0"/>
              </a:rPr>
              <a:t>  Top Customers (Highest Revenue), Top Products, Bottom Products, Monthly Sales Growth, </a:t>
            </a:r>
            <a:r>
              <a:rPr lang="en-US" dirty="0" err="1">
                <a:latin typeface="Calibri" panose="020F0502020204030204" pitchFamily="34" charset="0"/>
                <a:ea typeface="Calibri" panose="020F0502020204030204" pitchFamily="34" charset="0"/>
                <a:cs typeface="Calibri" panose="020F0502020204030204" pitchFamily="34" charset="0"/>
              </a:rPr>
              <a:t>ect</a:t>
            </a:r>
            <a:r>
              <a:rPr lang="en-US" dirty="0">
                <a:latin typeface="Calibri" panose="020F0502020204030204" pitchFamily="34" charset="0"/>
                <a:ea typeface="Calibri" panose="020F0502020204030204" pitchFamily="34" charset="0"/>
                <a:cs typeface="Calibri" panose="020F0502020204030204" pitchFamily="34" charset="0"/>
              </a:rPr>
              <a:t>).</a:t>
            </a:r>
          </a:p>
          <a:p>
            <a:pPr marL="285750" indent="-285750">
              <a:buFont typeface="Wingdings" panose="05000000000000000000" pitchFamily="2" charset="2"/>
              <a:buChar char="Ø"/>
              <a:defRPr sz="1800"/>
            </a:pPr>
            <a:r>
              <a:rPr lang="en-US" dirty="0">
                <a:latin typeface="Calibri" panose="020F0502020204030204" pitchFamily="34" charset="0"/>
                <a:ea typeface="Calibri" panose="020F0502020204030204" pitchFamily="34" charset="0"/>
                <a:cs typeface="Calibri" panose="020F0502020204030204" pitchFamily="34" charset="0"/>
              </a:rPr>
              <a:t>Then advance analysis  was done using SQL (</a:t>
            </a:r>
            <a:r>
              <a:rPr lang="en-US" dirty="0" err="1">
                <a:latin typeface="Calibri" panose="020F0502020204030204" pitchFamily="34" charset="0"/>
                <a:ea typeface="Calibri" panose="020F0502020204030204" pitchFamily="34" charset="0"/>
                <a:cs typeface="Calibri" panose="020F0502020204030204" pitchFamily="34" charset="0"/>
              </a:rPr>
              <a:t>e.g</a:t>
            </a:r>
            <a:r>
              <a:rPr lang="en-US" dirty="0">
                <a:latin typeface="Calibri" panose="020F0502020204030204" pitchFamily="34" charset="0"/>
                <a:ea typeface="Calibri" panose="020F0502020204030204" pitchFamily="34" charset="0"/>
                <a:cs typeface="Calibri" panose="020F0502020204030204" pitchFamily="34" charset="0"/>
              </a:rPr>
              <a:t> Window Functions, CTE, View, Ranking, </a:t>
            </a:r>
            <a:r>
              <a:rPr lang="en-US" dirty="0" err="1">
                <a:latin typeface="Calibri" panose="020F0502020204030204" pitchFamily="34" charset="0"/>
                <a:ea typeface="Calibri" panose="020F0502020204030204" pitchFamily="34" charset="0"/>
                <a:cs typeface="Calibri" panose="020F0502020204030204" pitchFamily="34" charset="0"/>
              </a:rPr>
              <a:t>etc</a:t>
            </a:r>
            <a:r>
              <a:rPr lang="en-US" dirty="0">
                <a:latin typeface="Calibri" panose="020F0502020204030204" pitchFamily="34" charset="0"/>
                <a:ea typeface="Calibri" panose="020F0502020204030204" pitchFamily="34" charset="0"/>
                <a:cs typeface="Calibri" panose="020F0502020204030204" pitchFamily="34" charset="0"/>
              </a:rPr>
              <a:t>).</a:t>
            </a:r>
          </a:p>
          <a:p>
            <a:pPr marL="285750" indent="-285750">
              <a:buFont typeface="Wingdings" panose="05000000000000000000" pitchFamily="2" charset="2"/>
              <a:buChar char="Ø"/>
              <a:defRPr sz="1800"/>
            </a:pPr>
            <a:r>
              <a:rPr lang="en-US" dirty="0">
                <a:latin typeface="Calibri" panose="020F0502020204030204" pitchFamily="34" charset="0"/>
                <a:ea typeface="Calibri" panose="020F0502020204030204" pitchFamily="34" charset="0"/>
                <a:cs typeface="Calibri" panose="020F0502020204030204" pitchFamily="34" charset="0"/>
              </a:rPr>
              <a:t> Then Power BI was used for data visualization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4864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3001912" cy="461665"/>
          </a:xfrm>
          <a:prstGeom prst="rect">
            <a:avLst/>
          </a:prstGeom>
          <a:noFill/>
        </p:spPr>
        <p:txBody>
          <a:bodyPr wrap="none">
            <a:spAutoFit/>
          </a:bodyPr>
          <a:lstStyle/>
          <a:p>
            <a:pPr>
              <a:defRPr sz="2400" b="1">
                <a:solidFill>
                  <a:srgbClr val="FFFFFF"/>
                </a:solidFill>
              </a:defRPr>
            </a:pPr>
            <a:r>
              <a:rPr dirty="0">
                <a:latin typeface="Calibri" panose="020F0502020204030204" pitchFamily="34" charset="0"/>
                <a:ea typeface="Calibri" panose="020F0502020204030204" pitchFamily="34" charset="0"/>
                <a:cs typeface="Calibri" panose="020F0502020204030204" pitchFamily="34" charset="0"/>
              </a:rPr>
              <a:t>Revenue Performance</a:t>
            </a:r>
          </a:p>
        </p:txBody>
      </p:sp>
      <p:sp>
        <p:nvSpPr>
          <p:cNvPr id="4" name="TextBox 3"/>
          <p:cNvSpPr txBox="1"/>
          <p:nvPr/>
        </p:nvSpPr>
        <p:spPr>
          <a:xfrm>
            <a:off x="255640" y="640080"/>
            <a:ext cx="10441858" cy="646331"/>
          </a:xfrm>
          <a:prstGeom prst="rect">
            <a:avLst/>
          </a:prstGeom>
          <a:noFill/>
        </p:spPr>
        <p:txBody>
          <a:bodyPr wrap="square">
            <a:spAutoFit/>
          </a:bodyPr>
          <a:lstStyle/>
          <a:p>
            <a:pPr>
              <a:defRPr sz="1800"/>
            </a:pPr>
            <a:r>
              <a:rPr lang="en-US" dirty="0">
                <a:latin typeface="Calibri" panose="020F0502020204030204" pitchFamily="34" charset="0"/>
                <a:ea typeface="Calibri" panose="020F0502020204030204" pitchFamily="34" charset="0"/>
                <a:cs typeface="Calibri" panose="020F0502020204030204" pitchFamily="34" charset="0"/>
              </a:rPr>
              <a:t>Form our Power BI dashboard we can see revenue performance and trends, </a:t>
            </a:r>
            <a:r>
              <a:rPr dirty="0">
                <a:latin typeface="Calibri" panose="020F0502020204030204" pitchFamily="34" charset="0"/>
                <a:ea typeface="Calibri" panose="020F0502020204030204" pitchFamily="34" charset="0"/>
                <a:cs typeface="Calibri" panose="020F0502020204030204" pitchFamily="34" charset="0"/>
              </a:rPr>
              <a:t>Observation supported by SQL queries and Power BI dashboards.</a:t>
            </a:r>
          </a:p>
        </p:txBody>
      </p:sp>
      <p:pic>
        <p:nvPicPr>
          <p:cNvPr id="6" name="Picture 5">
            <a:extLst>
              <a:ext uri="{FF2B5EF4-FFF2-40B4-BE49-F238E27FC236}">
                <a16:creationId xmlns:a16="http://schemas.microsoft.com/office/drawing/2014/main" id="{E717AECA-D824-A4E7-3627-7F18452F7253}"/>
              </a:ext>
            </a:extLst>
          </p:cNvPr>
          <p:cNvPicPr>
            <a:picLocks noChangeAspect="1"/>
          </p:cNvPicPr>
          <p:nvPr/>
        </p:nvPicPr>
        <p:blipFill>
          <a:blip r:embed="rId2"/>
          <a:stretch>
            <a:fillRect/>
          </a:stretch>
        </p:blipFill>
        <p:spPr>
          <a:xfrm>
            <a:off x="255640" y="1484568"/>
            <a:ext cx="2802192" cy="2320516"/>
          </a:xfrm>
          <a:prstGeom prst="rect">
            <a:avLst/>
          </a:prstGeom>
        </p:spPr>
      </p:pic>
      <p:pic>
        <p:nvPicPr>
          <p:cNvPr id="8" name="Picture 7">
            <a:extLst>
              <a:ext uri="{FF2B5EF4-FFF2-40B4-BE49-F238E27FC236}">
                <a16:creationId xmlns:a16="http://schemas.microsoft.com/office/drawing/2014/main" id="{44A9BCEC-420A-CF5D-C0E5-ACCCE1802660}"/>
              </a:ext>
            </a:extLst>
          </p:cNvPr>
          <p:cNvPicPr>
            <a:picLocks noChangeAspect="1"/>
          </p:cNvPicPr>
          <p:nvPr/>
        </p:nvPicPr>
        <p:blipFill>
          <a:blip r:embed="rId3"/>
          <a:stretch>
            <a:fillRect/>
          </a:stretch>
        </p:blipFill>
        <p:spPr>
          <a:xfrm>
            <a:off x="3352800" y="1484567"/>
            <a:ext cx="8580385" cy="2320516"/>
          </a:xfrm>
          <a:prstGeom prst="rect">
            <a:avLst/>
          </a:prstGeom>
        </p:spPr>
      </p:pic>
      <p:pic>
        <p:nvPicPr>
          <p:cNvPr id="10" name="Picture 9">
            <a:extLst>
              <a:ext uri="{FF2B5EF4-FFF2-40B4-BE49-F238E27FC236}">
                <a16:creationId xmlns:a16="http://schemas.microsoft.com/office/drawing/2014/main" id="{0E5C574A-5E93-0284-CF44-01A533016A24}"/>
              </a:ext>
            </a:extLst>
          </p:cNvPr>
          <p:cNvPicPr>
            <a:picLocks noChangeAspect="1"/>
          </p:cNvPicPr>
          <p:nvPr/>
        </p:nvPicPr>
        <p:blipFill>
          <a:blip r:embed="rId4"/>
          <a:stretch>
            <a:fillRect/>
          </a:stretch>
        </p:blipFill>
        <p:spPr>
          <a:xfrm>
            <a:off x="245808" y="3982066"/>
            <a:ext cx="3952566" cy="2784494"/>
          </a:xfrm>
          <a:prstGeom prst="rect">
            <a:avLst/>
          </a:prstGeom>
        </p:spPr>
      </p:pic>
      <p:pic>
        <p:nvPicPr>
          <p:cNvPr id="12" name="Picture 11">
            <a:extLst>
              <a:ext uri="{FF2B5EF4-FFF2-40B4-BE49-F238E27FC236}">
                <a16:creationId xmlns:a16="http://schemas.microsoft.com/office/drawing/2014/main" id="{233FA7B9-40FA-4950-C582-F2A90EC4E56A}"/>
              </a:ext>
            </a:extLst>
          </p:cNvPr>
          <p:cNvPicPr>
            <a:picLocks noChangeAspect="1"/>
          </p:cNvPicPr>
          <p:nvPr/>
        </p:nvPicPr>
        <p:blipFill>
          <a:blip r:embed="rId5"/>
          <a:stretch>
            <a:fillRect/>
          </a:stretch>
        </p:blipFill>
        <p:spPr>
          <a:xfrm>
            <a:off x="4444181" y="3982066"/>
            <a:ext cx="7489003" cy="278449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4864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4101892" cy="461665"/>
          </a:xfrm>
          <a:prstGeom prst="rect">
            <a:avLst/>
          </a:prstGeom>
          <a:noFill/>
        </p:spPr>
        <p:txBody>
          <a:bodyPr wrap="none">
            <a:spAutoFit/>
          </a:bodyPr>
          <a:lstStyle/>
          <a:p>
            <a:pPr>
              <a:defRPr sz="2400" b="1">
                <a:solidFill>
                  <a:srgbClr val="FFFFFF"/>
                </a:solidFill>
              </a:defRPr>
            </a:pPr>
            <a:r>
              <a:rPr dirty="0">
                <a:latin typeface="Calibri" panose="020F0502020204030204" pitchFamily="34" charset="0"/>
                <a:ea typeface="Calibri" panose="020F0502020204030204" pitchFamily="34" charset="0"/>
                <a:cs typeface="Calibri" panose="020F0502020204030204" pitchFamily="34" charset="0"/>
              </a:rPr>
              <a:t>Monthly Revenue</a:t>
            </a:r>
            <a:r>
              <a:rPr lang="en-US" dirty="0">
                <a:latin typeface="Calibri" panose="020F0502020204030204" pitchFamily="34" charset="0"/>
                <a:ea typeface="Calibri" panose="020F0502020204030204" pitchFamily="34" charset="0"/>
                <a:cs typeface="Calibri" panose="020F0502020204030204" pitchFamily="34" charset="0"/>
              </a:rPr>
              <a:t>/ Sales</a:t>
            </a:r>
            <a:r>
              <a:rPr dirty="0">
                <a:latin typeface="Calibri" panose="020F0502020204030204" pitchFamily="34" charset="0"/>
                <a:ea typeface="Calibri" panose="020F0502020204030204" pitchFamily="34" charset="0"/>
                <a:cs typeface="Calibri" panose="020F0502020204030204" pitchFamily="34" charset="0"/>
              </a:rPr>
              <a:t> Trend</a:t>
            </a:r>
          </a:p>
        </p:txBody>
      </p:sp>
      <p:pic>
        <p:nvPicPr>
          <p:cNvPr id="4" name="Picture 3" descr="Monthly Sales Growth.png"/>
          <p:cNvPicPr>
            <a:picLocks noChangeAspect="1"/>
          </p:cNvPicPr>
          <p:nvPr/>
        </p:nvPicPr>
        <p:blipFill>
          <a:blip r:embed="rId2"/>
          <a:stretch>
            <a:fillRect/>
          </a:stretch>
        </p:blipFill>
        <p:spPr>
          <a:xfrm>
            <a:off x="-128" y="1096386"/>
            <a:ext cx="12161394" cy="5761614"/>
          </a:xfrm>
          <a:prstGeom prst="rect">
            <a:avLst/>
          </a:prstGeom>
        </p:spPr>
      </p:pic>
      <p:sp>
        <p:nvSpPr>
          <p:cNvPr id="5" name="TextBox 4"/>
          <p:cNvSpPr txBox="1"/>
          <p:nvPr/>
        </p:nvSpPr>
        <p:spPr>
          <a:xfrm>
            <a:off x="0" y="640080"/>
            <a:ext cx="7665881" cy="369332"/>
          </a:xfrm>
          <a:prstGeom prst="rect">
            <a:avLst/>
          </a:prstGeom>
          <a:noFill/>
        </p:spPr>
        <p:txBody>
          <a:bodyPr wrap="none">
            <a:spAutoFit/>
          </a:bodyPr>
          <a:lstStyle/>
          <a:p>
            <a:pPr>
              <a:defRPr sz="1800"/>
            </a:pPr>
            <a:r>
              <a:rPr dirty="0"/>
              <a:t> Observation supported by SQL queries and </a:t>
            </a:r>
            <a:r>
              <a:rPr dirty="0">
                <a:latin typeface="Calibri" panose="020F0502020204030204" pitchFamily="34" charset="0"/>
                <a:ea typeface="Calibri" panose="020F0502020204030204" pitchFamily="34" charset="0"/>
                <a:cs typeface="Calibri" panose="020F0502020204030204" pitchFamily="34" charset="0"/>
              </a:rPr>
              <a:t>Power</a:t>
            </a:r>
            <a:r>
              <a:rPr dirty="0"/>
              <a:t> BI dashboards.</a:t>
            </a:r>
          </a:p>
        </p:txBody>
      </p:sp>
      <p:pic>
        <p:nvPicPr>
          <p:cNvPr id="7" name="Picture 6">
            <a:extLst>
              <a:ext uri="{FF2B5EF4-FFF2-40B4-BE49-F238E27FC236}">
                <a16:creationId xmlns:a16="http://schemas.microsoft.com/office/drawing/2014/main" id="{71E131FB-1B27-6799-F21F-3075115A67C0}"/>
              </a:ext>
            </a:extLst>
          </p:cNvPr>
          <p:cNvPicPr>
            <a:picLocks noChangeAspect="1"/>
          </p:cNvPicPr>
          <p:nvPr/>
        </p:nvPicPr>
        <p:blipFill>
          <a:blip r:embed="rId3"/>
          <a:stretch>
            <a:fillRect/>
          </a:stretch>
        </p:blipFill>
        <p:spPr>
          <a:xfrm>
            <a:off x="27557" y="4424516"/>
            <a:ext cx="12133709" cy="243348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4864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3087320" cy="461665"/>
          </a:xfrm>
          <a:prstGeom prst="rect">
            <a:avLst/>
          </a:prstGeom>
          <a:noFill/>
        </p:spPr>
        <p:txBody>
          <a:bodyPr wrap="none">
            <a:spAutoFit/>
          </a:bodyPr>
          <a:lstStyle/>
          <a:p>
            <a:pPr>
              <a:defRPr sz="2400" b="1">
                <a:solidFill>
                  <a:srgbClr val="FFFFFF"/>
                </a:solidFill>
              </a:defRPr>
            </a:pPr>
            <a:r>
              <a:rPr dirty="0">
                <a:latin typeface="Calibri" panose="020F0502020204030204" pitchFamily="34" charset="0"/>
                <a:ea typeface="Calibri" panose="020F0502020204030204" pitchFamily="34" charset="0"/>
                <a:cs typeface="Calibri" panose="020F0502020204030204" pitchFamily="34" charset="0"/>
              </a:rPr>
              <a:t>Year-over-Year Growth</a:t>
            </a:r>
          </a:p>
        </p:txBody>
      </p:sp>
      <p:pic>
        <p:nvPicPr>
          <p:cNvPr id="4" name="Picture 3" descr="Year-over-Year Growth.png"/>
          <p:cNvPicPr>
            <a:picLocks noChangeAspect="1"/>
          </p:cNvPicPr>
          <p:nvPr/>
        </p:nvPicPr>
        <p:blipFill>
          <a:blip r:embed="rId2"/>
          <a:stretch>
            <a:fillRect/>
          </a:stretch>
        </p:blipFill>
        <p:spPr>
          <a:xfrm>
            <a:off x="-1" y="1563330"/>
            <a:ext cx="12188825" cy="5294670"/>
          </a:xfrm>
          <a:prstGeom prst="rect">
            <a:avLst/>
          </a:prstGeom>
        </p:spPr>
      </p:pic>
      <p:sp>
        <p:nvSpPr>
          <p:cNvPr id="5" name="TextBox 4"/>
          <p:cNvSpPr txBox="1"/>
          <p:nvPr/>
        </p:nvSpPr>
        <p:spPr>
          <a:xfrm>
            <a:off x="108154" y="640080"/>
            <a:ext cx="10176388" cy="923330"/>
          </a:xfrm>
          <a:prstGeom prst="rect">
            <a:avLst/>
          </a:prstGeom>
          <a:noFill/>
        </p:spPr>
        <p:txBody>
          <a:bodyPr wrap="square">
            <a:spAutoFit/>
          </a:bodyPr>
          <a:lstStyle/>
          <a:p>
            <a:pPr>
              <a:defRPr sz="1800"/>
            </a:pPr>
            <a:r>
              <a:rPr lang="en-US" dirty="0">
                <a:latin typeface="Calibri" panose="020F0502020204030204" pitchFamily="34" charset="0"/>
                <a:ea typeface="Calibri" panose="020F0502020204030204" pitchFamily="34" charset="0"/>
                <a:cs typeface="Calibri" panose="020F0502020204030204" pitchFamily="34" charset="0"/>
              </a:rPr>
              <a:t>Using SQL FOR business analysis we see the  YoY growth we see the nearly  growth doubled  per year, </a:t>
            </a:r>
            <a:r>
              <a:rPr dirty="0">
                <a:latin typeface="Calibri" panose="020F0502020204030204" pitchFamily="34" charset="0"/>
                <a:ea typeface="Calibri" panose="020F0502020204030204" pitchFamily="34" charset="0"/>
                <a:cs typeface="Calibri" panose="020F0502020204030204" pitchFamily="34" charset="0"/>
              </a:rPr>
              <a:t>Observation supported by SQL queries and Power BI dashboards.</a:t>
            </a:r>
          </a:p>
          <a:p>
            <a:pPr>
              <a:defRPr sz="1800"/>
            </a:pPr>
            <a:endParaRPr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4864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2998257" cy="461665"/>
          </a:xfrm>
          <a:prstGeom prst="rect">
            <a:avLst/>
          </a:prstGeom>
          <a:noFill/>
        </p:spPr>
        <p:txBody>
          <a:bodyPr wrap="none">
            <a:spAutoFit/>
          </a:bodyPr>
          <a:lstStyle/>
          <a:p>
            <a:pPr>
              <a:defRPr sz="2400" b="1">
                <a:solidFill>
                  <a:srgbClr val="FFFFFF"/>
                </a:solidFill>
              </a:defRPr>
            </a:pPr>
            <a:r>
              <a:rPr dirty="0">
                <a:latin typeface="Calibri" panose="020F0502020204030204" pitchFamily="34" charset="0"/>
                <a:ea typeface="Calibri" panose="020F0502020204030204" pitchFamily="34" charset="0"/>
                <a:cs typeface="Calibri" panose="020F0502020204030204" pitchFamily="34" charset="0"/>
              </a:rPr>
              <a:t>Regional Performance</a:t>
            </a:r>
          </a:p>
        </p:txBody>
      </p:sp>
      <p:pic>
        <p:nvPicPr>
          <p:cNvPr id="4" name="Picture 3" descr="Regional Performance.png"/>
          <p:cNvPicPr>
            <a:picLocks noChangeAspect="1"/>
          </p:cNvPicPr>
          <p:nvPr/>
        </p:nvPicPr>
        <p:blipFill>
          <a:blip r:embed="rId2"/>
          <a:stretch>
            <a:fillRect/>
          </a:stretch>
        </p:blipFill>
        <p:spPr>
          <a:xfrm>
            <a:off x="157315" y="1627833"/>
            <a:ext cx="5594555" cy="5138727"/>
          </a:xfrm>
          <a:prstGeom prst="rect">
            <a:avLst/>
          </a:prstGeom>
        </p:spPr>
      </p:pic>
      <p:sp>
        <p:nvSpPr>
          <p:cNvPr id="5" name="TextBox 4"/>
          <p:cNvSpPr txBox="1"/>
          <p:nvPr/>
        </p:nvSpPr>
        <p:spPr>
          <a:xfrm>
            <a:off x="157316" y="640080"/>
            <a:ext cx="10202535" cy="1200329"/>
          </a:xfrm>
          <a:prstGeom prst="rect">
            <a:avLst/>
          </a:prstGeom>
          <a:noFill/>
        </p:spPr>
        <p:txBody>
          <a:bodyPr wrap="square">
            <a:spAutoFit/>
          </a:bodyPr>
          <a:lstStyle/>
          <a:p>
            <a:pPr>
              <a:defRPr sz="1800"/>
            </a:pPr>
            <a:r>
              <a:rPr lang="en-US" dirty="0">
                <a:latin typeface="Calibri" panose="020F0502020204030204" pitchFamily="34" charset="0"/>
                <a:ea typeface="Calibri" panose="020F0502020204030204" pitchFamily="34" charset="0"/>
                <a:cs typeface="Calibri" panose="020F0502020204030204" pitchFamily="34" charset="0"/>
              </a:rPr>
              <a:t>After </a:t>
            </a:r>
            <a:r>
              <a:rPr lang="en-US" dirty="0" err="1">
                <a:latin typeface="Calibri" panose="020F0502020204030204" pitchFamily="34" charset="0"/>
                <a:ea typeface="Calibri" panose="020F0502020204030204" pitchFamily="34" charset="0"/>
                <a:cs typeface="Calibri" panose="020F0502020204030204" pitchFamily="34" charset="0"/>
              </a:rPr>
              <a:t>carefull</a:t>
            </a:r>
            <a:r>
              <a:rPr lang="en-US" dirty="0">
                <a:latin typeface="Calibri" panose="020F0502020204030204" pitchFamily="34" charset="0"/>
                <a:ea typeface="Calibri" panose="020F0502020204030204" pitchFamily="34" charset="0"/>
                <a:cs typeface="Calibri" panose="020F0502020204030204" pitchFamily="34" charset="0"/>
              </a:rPr>
              <a:t> analysis from both SQL and Power BI we see that SP is the region  with the highest revenue and sales and others follow </a:t>
            </a:r>
            <a:r>
              <a:rPr lang="en-US" dirty="0" err="1">
                <a:latin typeface="Calibri" panose="020F0502020204030204" pitchFamily="34" charset="0"/>
                <a:ea typeface="Calibri" panose="020F0502020204030204" pitchFamily="34" charset="0"/>
                <a:cs typeface="Calibri" panose="020F0502020204030204" pitchFamily="34" charset="0"/>
              </a:rPr>
              <a:t>adeclining</a:t>
            </a:r>
            <a:r>
              <a:rPr lang="en-US" dirty="0">
                <a:latin typeface="Calibri" panose="020F0502020204030204" pitchFamily="34" charset="0"/>
                <a:ea typeface="Calibri" panose="020F0502020204030204" pitchFamily="34" charset="0"/>
                <a:cs typeface="Calibri" panose="020F0502020204030204" pitchFamily="34" charset="0"/>
              </a:rPr>
              <a:t> order as the table and chart showed , </a:t>
            </a:r>
            <a:r>
              <a:rPr dirty="0">
                <a:latin typeface="Calibri" panose="020F0502020204030204" pitchFamily="34" charset="0"/>
                <a:ea typeface="Calibri" panose="020F0502020204030204" pitchFamily="34" charset="0"/>
                <a:cs typeface="Calibri" panose="020F0502020204030204" pitchFamily="34" charset="0"/>
              </a:rPr>
              <a:t>Observation supported by SQL queries and Power BI dashboards.</a:t>
            </a:r>
          </a:p>
          <a:p>
            <a:pPr>
              <a:defRPr sz="1800"/>
            </a:pPr>
            <a:endParaRPr dirty="0"/>
          </a:p>
        </p:txBody>
      </p:sp>
      <p:pic>
        <p:nvPicPr>
          <p:cNvPr id="7" name="Picture 6">
            <a:extLst>
              <a:ext uri="{FF2B5EF4-FFF2-40B4-BE49-F238E27FC236}">
                <a16:creationId xmlns:a16="http://schemas.microsoft.com/office/drawing/2014/main" id="{123F2180-9178-4B94-8417-DD7D55EA4E88}"/>
              </a:ext>
            </a:extLst>
          </p:cNvPr>
          <p:cNvPicPr>
            <a:picLocks noChangeAspect="1"/>
          </p:cNvPicPr>
          <p:nvPr/>
        </p:nvPicPr>
        <p:blipFill>
          <a:blip r:embed="rId3"/>
          <a:stretch>
            <a:fillRect/>
          </a:stretch>
        </p:blipFill>
        <p:spPr>
          <a:xfrm>
            <a:off x="5968182" y="1627833"/>
            <a:ext cx="6063328" cy="513872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4864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2709268" cy="461665"/>
          </a:xfrm>
          <a:prstGeom prst="rect">
            <a:avLst/>
          </a:prstGeom>
          <a:noFill/>
        </p:spPr>
        <p:txBody>
          <a:bodyPr wrap="none">
            <a:spAutoFit/>
          </a:bodyPr>
          <a:lstStyle/>
          <a:p>
            <a:pPr>
              <a:defRPr sz="2400" b="1">
                <a:solidFill>
                  <a:srgbClr val="FFFFFF"/>
                </a:solidFill>
              </a:defRPr>
            </a:pPr>
            <a:r>
              <a:rPr dirty="0">
                <a:latin typeface="Calibri" panose="020F0502020204030204" pitchFamily="34" charset="0"/>
                <a:ea typeface="Calibri" panose="020F0502020204030204" pitchFamily="34" charset="0"/>
                <a:cs typeface="Calibri" panose="020F0502020204030204" pitchFamily="34" charset="0"/>
              </a:rPr>
              <a:t>Customer Overview</a:t>
            </a:r>
          </a:p>
        </p:txBody>
      </p:sp>
      <p:sp>
        <p:nvSpPr>
          <p:cNvPr id="4" name="TextBox 3"/>
          <p:cNvSpPr txBox="1"/>
          <p:nvPr/>
        </p:nvSpPr>
        <p:spPr>
          <a:xfrm>
            <a:off x="168403" y="731520"/>
            <a:ext cx="9777869" cy="646331"/>
          </a:xfrm>
          <a:prstGeom prst="rect">
            <a:avLst/>
          </a:prstGeom>
          <a:noFill/>
        </p:spPr>
        <p:txBody>
          <a:bodyPr wrap="square">
            <a:spAutoFit/>
          </a:bodyPr>
          <a:lstStyle/>
          <a:p>
            <a:pPr>
              <a:defRPr sz="1800"/>
            </a:pPr>
            <a:r>
              <a:rPr lang="en-US" dirty="0">
                <a:latin typeface="Calibri" panose="020F0502020204030204" pitchFamily="34" charset="0"/>
                <a:ea typeface="Calibri" panose="020F0502020204030204" pitchFamily="34" charset="0"/>
                <a:cs typeface="Calibri" panose="020F0502020204030204" pitchFamily="34" charset="0"/>
              </a:rPr>
              <a:t>The analysis from our visuals gives a clear overview of our customer performance, </a:t>
            </a:r>
            <a:r>
              <a:rPr dirty="0">
                <a:latin typeface="Calibri" panose="020F0502020204030204" pitchFamily="34" charset="0"/>
                <a:ea typeface="Calibri" panose="020F0502020204030204" pitchFamily="34" charset="0"/>
                <a:cs typeface="Calibri" panose="020F0502020204030204" pitchFamily="34" charset="0"/>
              </a:rPr>
              <a:t>Observation supported by SQL queries and Power BI dashboards.</a:t>
            </a:r>
          </a:p>
        </p:txBody>
      </p:sp>
      <p:pic>
        <p:nvPicPr>
          <p:cNvPr id="6" name="Picture 5">
            <a:extLst>
              <a:ext uri="{FF2B5EF4-FFF2-40B4-BE49-F238E27FC236}">
                <a16:creationId xmlns:a16="http://schemas.microsoft.com/office/drawing/2014/main" id="{709A0555-7DDA-2788-5C59-D743CFBA058B}"/>
              </a:ext>
            </a:extLst>
          </p:cNvPr>
          <p:cNvPicPr>
            <a:picLocks noChangeAspect="1"/>
          </p:cNvPicPr>
          <p:nvPr/>
        </p:nvPicPr>
        <p:blipFill>
          <a:blip r:embed="rId2"/>
          <a:stretch>
            <a:fillRect/>
          </a:stretch>
        </p:blipFill>
        <p:spPr>
          <a:xfrm>
            <a:off x="168403" y="1720646"/>
            <a:ext cx="5445816" cy="2107404"/>
          </a:xfrm>
          <a:prstGeom prst="rect">
            <a:avLst/>
          </a:prstGeom>
        </p:spPr>
      </p:pic>
      <p:pic>
        <p:nvPicPr>
          <p:cNvPr id="8" name="Picture 7">
            <a:extLst>
              <a:ext uri="{FF2B5EF4-FFF2-40B4-BE49-F238E27FC236}">
                <a16:creationId xmlns:a16="http://schemas.microsoft.com/office/drawing/2014/main" id="{0D2E734C-F370-9DC7-C073-4A595E8CFD1C}"/>
              </a:ext>
            </a:extLst>
          </p:cNvPr>
          <p:cNvPicPr>
            <a:picLocks noChangeAspect="1"/>
          </p:cNvPicPr>
          <p:nvPr/>
        </p:nvPicPr>
        <p:blipFill>
          <a:blip r:embed="rId3"/>
          <a:stretch>
            <a:fillRect/>
          </a:stretch>
        </p:blipFill>
        <p:spPr>
          <a:xfrm>
            <a:off x="5774958" y="1720645"/>
            <a:ext cx="6048107" cy="2176230"/>
          </a:xfrm>
          <a:prstGeom prst="rect">
            <a:avLst/>
          </a:prstGeom>
        </p:spPr>
      </p:pic>
      <p:pic>
        <p:nvPicPr>
          <p:cNvPr id="10" name="Picture 9">
            <a:extLst>
              <a:ext uri="{FF2B5EF4-FFF2-40B4-BE49-F238E27FC236}">
                <a16:creationId xmlns:a16="http://schemas.microsoft.com/office/drawing/2014/main" id="{CAD02600-79F5-4163-7832-AF1A55BDFD6B}"/>
              </a:ext>
            </a:extLst>
          </p:cNvPr>
          <p:cNvPicPr>
            <a:picLocks noChangeAspect="1"/>
          </p:cNvPicPr>
          <p:nvPr/>
        </p:nvPicPr>
        <p:blipFill>
          <a:blip r:embed="rId4"/>
          <a:stretch>
            <a:fillRect/>
          </a:stretch>
        </p:blipFill>
        <p:spPr>
          <a:xfrm>
            <a:off x="5774959" y="4031226"/>
            <a:ext cx="6048106" cy="2735333"/>
          </a:xfrm>
          <a:prstGeom prst="rect">
            <a:avLst/>
          </a:prstGeom>
        </p:spPr>
      </p:pic>
      <p:pic>
        <p:nvPicPr>
          <p:cNvPr id="11" name="Picture 10" descr="Repeat Customers.png"/>
          <p:cNvPicPr>
            <a:picLocks noChangeAspect="1"/>
          </p:cNvPicPr>
          <p:nvPr/>
        </p:nvPicPr>
        <p:blipFill>
          <a:blip r:embed="rId5"/>
          <a:stretch>
            <a:fillRect/>
          </a:stretch>
        </p:blipFill>
        <p:spPr>
          <a:xfrm>
            <a:off x="80624" y="4031226"/>
            <a:ext cx="5533595" cy="273533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4864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2061783" cy="461665"/>
          </a:xfrm>
          <a:prstGeom prst="rect">
            <a:avLst/>
          </a:prstGeom>
          <a:noFill/>
        </p:spPr>
        <p:txBody>
          <a:bodyPr wrap="none">
            <a:spAutoFit/>
          </a:bodyPr>
          <a:lstStyle/>
          <a:p>
            <a:pPr>
              <a:defRPr sz="2400" b="1">
                <a:solidFill>
                  <a:srgbClr val="FFFFFF"/>
                </a:solidFill>
              </a:defRPr>
            </a:pPr>
            <a:r>
              <a:rPr sz="2400" dirty="0">
                <a:latin typeface="Calibri" panose="020F0502020204030204" pitchFamily="34" charset="0"/>
                <a:ea typeface="Calibri" panose="020F0502020204030204" pitchFamily="34" charset="0"/>
                <a:cs typeface="Calibri" panose="020F0502020204030204" pitchFamily="34" charset="0"/>
              </a:rPr>
              <a:t>Top Customers</a:t>
            </a:r>
          </a:p>
        </p:txBody>
      </p:sp>
      <p:pic>
        <p:nvPicPr>
          <p:cNvPr id="4" name="Picture 3" descr="Top 10 customers(revenue).png"/>
          <p:cNvPicPr>
            <a:picLocks noChangeAspect="1"/>
          </p:cNvPicPr>
          <p:nvPr/>
        </p:nvPicPr>
        <p:blipFill>
          <a:blip r:embed="rId2"/>
          <a:stretch>
            <a:fillRect/>
          </a:stretch>
        </p:blipFill>
        <p:spPr>
          <a:xfrm>
            <a:off x="110533" y="1396721"/>
            <a:ext cx="11977634" cy="5369839"/>
          </a:xfrm>
          <a:prstGeom prst="rect">
            <a:avLst/>
          </a:prstGeom>
        </p:spPr>
      </p:pic>
      <p:sp>
        <p:nvSpPr>
          <p:cNvPr id="5" name="TextBox 4"/>
          <p:cNvSpPr txBox="1"/>
          <p:nvPr/>
        </p:nvSpPr>
        <p:spPr>
          <a:xfrm>
            <a:off x="0" y="640080"/>
            <a:ext cx="11023042" cy="923330"/>
          </a:xfrm>
          <a:prstGeom prst="rect">
            <a:avLst/>
          </a:prstGeom>
          <a:noFill/>
        </p:spPr>
        <p:txBody>
          <a:bodyPr wrap="square">
            <a:spAutoFit/>
          </a:bodyPr>
          <a:lstStyle/>
          <a:p>
            <a:pPr>
              <a:defRPr sz="1800"/>
            </a:pPr>
            <a:r>
              <a:rPr lang="en-US" dirty="0">
                <a:latin typeface="Calibri" panose="020F0502020204030204" pitchFamily="34" charset="0"/>
                <a:ea typeface="Calibri" panose="020F0502020204030204" pitchFamily="34" charset="0"/>
                <a:cs typeface="Calibri" panose="020F0502020204030204" pitchFamily="34" charset="0"/>
              </a:rPr>
              <a:t>From my SQL analysis we can see the top customers and how much they spent, </a:t>
            </a:r>
            <a:r>
              <a:rPr dirty="0">
                <a:latin typeface="Calibri" panose="020F0502020204030204" pitchFamily="34" charset="0"/>
                <a:ea typeface="Calibri" panose="020F0502020204030204" pitchFamily="34" charset="0"/>
                <a:cs typeface="Calibri" panose="020F0502020204030204" pitchFamily="34" charset="0"/>
              </a:rPr>
              <a:t>Observation supported by SQL queries and Power BI dashboards.</a:t>
            </a:r>
          </a:p>
          <a:p>
            <a:pPr>
              <a:defRPr sz="1800"/>
            </a:pP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4864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365760"/>
          </a:xfrm>
          <a:prstGeom prst="rect">
            <a:avLst/>
          </a:prstGeom>
          <a:noFill/>
        </p:spPr>
        <p:txBody>
          <a:bodyPr wrap="none">
            <a:spAutoFit/>
          </a:bodyPr>
          <a:lstStyle/>
          <a:p>
            <a:pPr>
              <a:defRPr sz="2400" b="1">
                <a:solidFill>
                  <a:srgbClr val="FFFFFF"/>
                </a:solidFill>
              </a:defRPr>
            </a:pPr>
            <a:r>
              <a:t>Sales Dashboard</a:t>
            </a:r>
          </a:p>
        </p:txBody>
      </p:sp>
      <p:pic>
        <p:nvPicPr>
          <p:cNvPr id="4" name="Picture 3" descr="SD.png"/>
          <p:cNvPicPr>
            <a:picLocks noChangeAspect="1"/>
          </p:cNvPicPr>
          <p:nvPr/>
        </p:nvPicPr>
        <p:blipFill>
          <a:blip r:embed="rId2"/>
          <a:stretch>
            <a:fillRect/>
          </a:stretch>
        </p:blipFill>
        <p:spPr>
          <a:xfrm>
            <a:off x="129785" y="1423571"/>
            <a:ext cx="12059039" cy="5342989"/>
          </a:xfrm>
          <a:prstGeom prst="rect">
            <a:avLst/>
          </a:prstGeom>
        </p:spPr>
      </p:pic>
      <p:sp>
        <p:nvSpPr>
          <p:cNvPr id="5" name="TextBox 4"/>
          <p:cNvSpPr txBox="1"/>
          <p:nvPr/>
        </p:nvSpPr>
        <p:spPr>
          <a:xfrm>
            <a:off x="129786" y="777240"/>
            <a:ext cx="11797607" cy="646331"/>
          </a:xfrm>
          <a:prstGeom prst="rect">
            <a:avLst/>
          </a:prstGeom>
          <a:noFill/>
        </p:spPr>
        <p:txBody>
          <a:bodyPr wrap="square">
            <a:spAutoFit/>
          </a:bodyPr>
          <a:lstStyle/>
          <a:p>
            <a:pPr>
              <a:defRPr sz="1800"/>
            </a:pPr>
            <a:r>
              <a:rPr lang="en-US" dirty="0"/>
              <a:t>The </a:t>
            </a:r>
            <a:r>
              <a:rPr dirty="0"/>
              <a:t>Observation</a:t>
            </a:r>
            <a:r>
              <a:rPr lang="en-US" dirty="0"/>
              <a:t> is</a:t>
            </a:r>
            <a:r>
              <a:rPr dirty="0"/>
              <a:t> supported by SQL queries and Power BI dashboard</a:t>
            </a:r>
            <a:r>
              <a:rPr lang="en-US" dirty="0"/>
              <a:t> analysis</a:t>
            </a:r>
            <a:r>
              <a:rPr dirty="0"/>
              <a:t>.</a:t>
            </a:r>
          </a:p>
          <a:p>
            <a:pPr>
              <a:defRPr sz="1800"/>
            </a:pP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4864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757212" cy="461665"/>
          </a:xfrm>
          <a:prstGeom prst="rect">
            <a:avLst/>
          </a:prstGeom>
          <a:noFill/>
        </p:spPr>
        <p:txBody>
          <a:bodyPr wrap="none">
            <a:spAutoFit/>
          </a:bodyPr>
          <a:lstStyle/>
          <a:p>
            <a:pPr>
              <a:defRPr sz="2400" b="1">
                <a:solidFill>
                  <a:srgbClr val="FFFFFF"/>
                </a:solidFill>
              </a:defRPr>
            </a:pPr>
            <a:r>
              <a:rPr dirty="0">
                <a:latin typeface="Calibri" panose="020F0502020204030204" pitchFamily="34" charset="0"/>
                <a:ea typeface="Calibri" panose="020F0502020204030204" pitchFamily="34" charset="0"/>
                <a:cs typeface="Calibri" panose="020F0502020204030204" pitchFamily="34" charset="0"/>
              </a:rPr>
              <a:t>Sales Trends</a:t>
            </a:r>
          </a:p>
        </p:txBody>
      </p:sp>
      <p:sp>
        <p:nvSpPr>
          <p:cNvPr id="4" name="TextBox 3"/>
          <p:cNvSpPr txBox="1"/>
          <p:nvPr/>
        </p:nvSpPr>
        <p:spPr>
          <a:xfrm>
            <a:off x="108155" y="640080"/>
            <a:ext cx="7333867" cy="369332"/>
          </a:xfrm>
          <a:prstGeom prst="rect">
            <a:avLst/>
          </a:prstGeom>
          <a:noFill/>
        </p:spPr>
        <p:txBody>
          <a:bodyPr wrap="none">
            <a:spAutoFit/>
          </a:bodyPr>
          <a:lstStyle/>
          <a:p>
            <a:pPr>
              <a:defRPr sz="1800"/>
            </a:pPr>
            <a:r>
              <a:rPr dirty="0">
                <a:latin typeface="Calibri" panose="020F0502020204030204" pitchFamily="34" charset="0"/>
                <a:ea typeface="Calibri" panose="020F0502020204030204" pitchFamily="34" charset="0"/>
                <a:cs typeface="Calibri" panose="020F0502020204030204" pitchFamily="34" charset="0"/>
              </a:rPr>
              <a:t>• Observation </a:t>
            </a:r>
            <a:r>
              <a:rPr lang="en-US" dirty="0">
                <a:latin typeface="Calibri" panose="020F0502020204030204" pitchFamily="34" charset="0"/>
                <a:ea typeface="Calibri" panose="020F0502020204030204" pitchFamily="34" charset="0"/>
                <a:cs typeface="Calibri" panose="020F0502020204030204" pitchFamily="34" charset="0"/>
              </a:rPr>
              <a:t>is </a:t>
            </a:r>
            <a:r>
              <a:rPr dirty="0">
                <a:latin typeface="Calibri" panose="020F0502020204030204" pitchFamily="34" charset="0"/>
                <a:ea typeface="Calibri" panose="020F0502020204030204" pitchFamily="34" charset="0"/>
                <a:cs typeface="Calibri" panose="020F0502020204030204" pitchFamily="34" charset="0"/>
              </a:rPr>
              <a:t>supported by SQL queries and Power BI dashboard</a:t>
            </a:r>
            <a:r>
              <a:rPr lang="en-US" dirty="0">
                <a:latin typeface="Calibri" panose="020F0502020204030204" pitchFamily="34" charset="0"/>
                <a:ea typeface="Calibri" panose="020F0502020204030204" pitchFamily="34" charset="0"/>
                <a:cs typeface="Calibri" panose="020F0502020204030204" pitchFamily="34" charset="0"/>
              </a:rPr>
              <a:t> analysis</a:t>
            </a:r>
            <a:r>
              <a:rPr dirty="0">
                <a:latin typeface="Calibri" panose="020F0502020204030204" pitchFamily="34" charset="0"/>
                <a:ea typeface="Calibri" panose="020F0502020204030204" pitchFamily="34" charset="0"/>
                <a:cs typeface="Calibri" panose="020F0502020204030204" pitchFamily="34" charset="0"/>
              </a:rPr>
              <a:t>.</a:t>
            </a:r>
          </a:p>
        </p:txBody>
      </p:sp>
      <p:pic>
        <p:nvPicPr>
          <p:cNvPr id="5" name="Picture 4">
            <a:extLst>
              <a:ext uri="{FF2B5EF4-FFF2-40B4-BE49-F238E27FC236}">
                <a16:creationId xmlns:a16="http://schemas.microsoft.com/office/drawing/2014/main" id="{A99EDBF0-8C79-CEF8-8124-EE17AA968F60}"/>
              </a:ext>
            </a:extLst>
          </p:cNvPr>
          <p:cNvPicPr>
            <a:picLocks noChangeAspect="1"/>
          </p:cNvPicPr>
          <p:nvPr/>
        </p:nvPicPr>
        <p:blipFill>
          <a:blip r:embed="rId2"/>
          <a:stretch>
            <a:fillRect/>
          </a:stretch>
        </p:blipFill>
        <p:spPr>
          <a:xfrm>
            <a:off x="27557" y="1474839"/>
            <a:ext cx="12133709" cy="529172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4864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832618" cy="461665"/>
          </a:xfrm>
          <a:prstGeom prst="rect">
            <a:avLst/>
          </a:prstGeom>
          <a:noFill/>
        </p:spPr>
        <p:txBody>
          <a:bodyPr wrap="none">
            <a:spAutoFit/>
          </a:bodyPr>
          <a:lstStyle/>
          <a:p>
            <a:pPr>
              <a:defRPr sz="2400" b="1">
                <a:solidFill>
                  <a:srgbClr val="FFFFFF"/>
                </a:solidFill>
              </a:defRPr>
            </a:pPr>
            <a:r>
              <a:rPr dirty="0">
                <a:latin typeface="Calibri" panose="020F0502020204030204" pitchFamily="34" charset="0"/>
                <a:ea typeface="Calibri" panose="020F0502020204030204" pitchFamily="34" charset="0"/>
                <a:cs typeface="Calibri" panose="020F0502020204030204" pitchFamily="34" charset="0"/>
              </a:rPr>
              <a:t>Top Products</a:t>
            </a:r>
          </a:p>
        </p:txBody>
      </p:sp>
      <p:pic>
        <p:nvPicPr>
          <p:cNvPr id="4" name="Picture 3" descr="Top products.png"/>
          <p:cNvPicPr>
            <a:picLocks noChangeAspect="1"/>
          </p:cNvPicPr>
          <p:nvPr/>
        </p:nvPicPr>
        <p:blipFill>
          <a:blip r:embed="rId2"/>
          <a:stretch>
            <a:fillRect/>
          </a:stretch>
        </p:blipFill>
        <p:spPr>
          <a:xfrm>
            <a:off x="169115" y="1380931"/>
            <a:ext cx="11848714" cy="5477069"/>
          </a:xfrm>
          <a:prstGeom prst="rect">
            <a:avLst/>
          </a:prstGeom>
        </p:spPr>
      </p:pic>
      <p:sp>
        <p:nvSpPr>
          <p:cNvPr id="5" name="TextBox 4"/>
          <p:cNvSpPr txBox="1"/>
          <p:nvPr/>
        </p:nvSpPr>
        <p:spPr>
          <a:xfrm>
            <a:off x="169115" y="640080"/>
            <a:ext cx="6640279" cy="369332"/>
          </a:xfrm>
          <a:prstGeom prst="rect">
            <a:avLst/>
          </a:prstGeom>
          <a:noFill/>
        </p:spPr>
        <p:txBody>
          <a:bodyPr wrap="none">
            <a:spAutoFit/>
          </a:bodyPr>
          <a:lstStyle/>
          <a:p>
            <a:pPr>
              <a:defRPr sz="1800"/>
            </a:pPr>
            <a:r>
              <a:rPr dirty="0">
                <a:latin typeface="Calibri" panose="020F0502020204030204" pitchFamily="34" charset="0"/>
                <a:ea typeface="Calibri" panose="020F0502020204030204" pitchFamily="34" charset="0"/>
                <a:cs typeface="Calibri" panose="020F0502020204030204" pitchFamily="34" charset="0"/>
              </a:rPr>
              <a:t>• Observation </a:t>
            </a:r>
            <a:r>
              <a:rPr lang="en-US" dirty="0">
                <a:latin typeface="Calibri" panose="020F0502020204030204" pitchFamily="34" charset="0"/>
                <a:ea typeface="Calibri" panose="020F0502020204030204" pitchFamily="34" charset="0"/>
                <a:cs typeface="Calibri" panose="020F0502020204030204" pitchFamily="34" charset="0"/>
              </a:rPr>
              <a:t>is </a:t>
            </a:r>
            <a:r>
              <a:rPr dirty="0">
                <a:latin typeface="Calibri" panose="020F0502020204030204" pitchFamily="34" charset="0"/>
                <a:ea typeface="Calibri" panose="020F0502020204030204" pitchFamily="34" charset="0"/>
                <a:cs typeface="Calibri" panose="020F0502020204030204" pitchFamily="34" charset="0"/>
              </a:rPr>
              <a:t>supported by SQL queries and Power BI dashboards.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4864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365760"/>
          </a:xfrm>
          <a:prstGeom prst="rect">
            <a:avLst/>
          </a:prstGeom>
          <a:noFill/>
        </p:spPr>
        <p:txBody>
          <a:bodyPr wrap="none">
            <a:spAutoFit/>
          </a:bodyPr>
          <a:lstStyle/>
          <a:p>
            <a:pPr>
              <a:defRPr sz="2400" b="1">
                <a:solidFill>
                  <a:srgbClr val="FFFFFF"/>
                </a:solidFill>
              </a:defRPr>
            </a:pPr>
            <a:r>
              <a:t>Bottom Products</a:t>
            </a:r>
          </a:p>
        </p:txBody>
      </p:sp>
      <p:pic>
        <p:nvPicPr>
          <p:cNvPr id="4" name="Picture 3" descr="Bottom Products.png"/>
          <p:cNvPicPr>
            <a:picLocks noChangeAspect="1"/>
          </p:cNvPicPr>
          <p:nvPr/>
        </p:nvPicPr>
        <p:blipFill>
          <a:blip r:embed="rId2"/>
          <a:stretch>
            <a:fillRect/>
          </a:stretch>
        </p:blipFill>
        <p:spPr>
          <a:xfrm>
            <a:off x="80624" y="1632155"/>
            <a:ext cx="11973724" cy="5225846"/>
          </a:xfrm>
          <a:prstGeom prst="rect">
            <a:avLst/>
          </a:prstGeom>
        </p:spPr>
      </p:pic>
      <p:sp>
        <p:nvSpPr>
          <p:cNvPr id="5" name="TextBox 4"/>
          <p:cNvSpPr txBox="1"/>
          <p:nvPr/>
        </p:nvSpPr>
        <p:spPr>
          <a:xfrm>
            <a:off x="80624" y="672353"/>
            <a:ext cx="10321905" cy="646331"/>
          </a:xfrm>
          <a:prstGeom prst="rect">
            <a:avLst/>
          </a:prstGeom>
          <a:noFill/>
        </p:spPr>
        <p:txBody>
          <a:bodyPr wrap="square">
            <a:spAutoFit/>
          </a:bodyPr>
          <a:lstStyle/>
          <a:p>
            <a:pPr>
              <a:defRPr sz="1800"/>
            </a:pPr>
            <a:r>
              <a:rPr lang="en-US" dirty="0"/>
              <a:t>From my  SQL analysis  we can identify the bottom product, </a:t>
            </a:r>
            <a:r>
              <a:rPr dirty="0"/>
              <a:t>Observation supported by SQL queries and Power BI dashboards.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4864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365760"/>
          </a:xfrm>
          <a:prstGeom prst="rect">
            <a:avLst/>
          </a:prstGeom>
          <a:noFill/>
        </p:spPr>
        <p:txBody>
          <a:bodyPr wrap="none">
            <a:spAutoFit/>
          </a:bodyPr>
          <a:lstStyle/>
          <a:p>
            <a:pPr>
              <a:defRPr sz="2400" b="1">
                <a:solidFill>
                  <a:srgbClr val="FFFFFF"/>
                </a:solidFill>
              </a:defRPr>
            </a:pPr>
            <a:r>
              <a:t>Category Performance</a:t>
            </a:r>
          </a:p>
        </p:txBody>
      </p:sp>
      <p:sp>
        <p:nvSpPr>
          <p:cNvPr id="4" name="TextBox 3"/>
          <p:cNvSpPr txBox="1"/>
          <p:nvPr/>
        </p:nvSpPr>
        <p:spPr>
          <a:xfrm>
            <a:off x="365760" y="777240"/>
            <a:ext cx="8552341" cy="646331"/>
          </a:xfrm>
          <a:prstGeom prst="rect">
            <a:avLst/>
          </a:prstGeom>
          <a:noFill/>
        </p:spPr>
        <p:txBody>
          <a:bodyPr wrap="none">
            <a:spAutoFit/>
          </a:bodyPr>
          <a:lstStyle/>
          <a:p>
            <a:pPr>
              <a:defRPr sz="1800"/>
            </a:pPr>
            <a:r>
              <a:rPr dirty="0"/>
              <a:t> Observation</a:t>
            </a:r>
            <a:r>
              <a:rPr lang="en-US" dirty="0"/>
              <a:t> is</a:t>
            </a:r>
            <a:r>
              <a:rPr dirty="0"/>
              <a:t> supported by SQL queries and Power BI dashboard</a:t>
            </a:r>
            <a:r>
              <a:rPr lang="en-US" dirty="0"/>
              <a:t> analysis</a:t>
            </a:r>
            <a:r>
              <a:rPr dirty="0"/>
              <a:t>.</a:t>
            </a:r>
          </a:p>
          <a:p>
            <a:pPr>
              <a:defRPr sz="1800"/>
            </a:pPr>
            <a:endParaRPr dirty="0"/>
          </a:p>
        </p:txBody>
      </p:sp>
      <p:pic>
        <p:nvPicPr>
          <p:cNvPr id="5" name="Picture 4">
            <a:extLst>
              <a:ext uri="{FF2B5EF4-FFF2-40B4-BE49-F238E27FC236}">
                <a16:creationId xmlns:a16="http://schemas.microsoft.com/office/drawing/2014/main" id="{2BE0FDF9-BEB8-A22E-E2A9-5A9F7A816995}"/>
              </a:ext>
            </a:extLst>
          </p:cNvPr>
          <p:cNvPicPr>
            <a:picLocks noChangeAspect="1"/>
          </p:cNvPicPr>
          <p:nvPr/>
        </p:nvPicPr>
        <p:blipFill>
          <a:blip r:embed="rId2"/>
          <a:stretch>
            <a:fillRect/>
          </a:stretch>
        </p:blipFill>
        <p:spPr>
          <a:xfrm>
            <a:off x="216310" y="1652171"/>
            <a:ext cx="6312750" cy="5114389"/>
          </a:xfrm>
          <a:prstGeom prst="rect">
            <a:avLst/>
          </a:prstGeom>
        </p:spPr>
      </p:pic>
      <p:pic>
        <p:nvPicPr>
          <p:cNvPr id="7" name="Picture 6">
            <a:extLst>
              <a:ext uri="{FF2B5EF4-FFF2-40B4-BE49-F238E27FC236}">
                <a16:creationId xmlns:a16="http://schemas.microsoft.com/office/drawing/2014/main" id="{FA344DA5-FFF1-F871-FA0A-2B9C5BD30317}"/>
              </a:ext>
            </a:extLst>
          </p:cNvPr>
          <p:cNvPicPr>
            <a:picLocks noChangeAspect="1"/>
          </p:cNvPicPr>
          <p:nvPr/>
        </p:nvPicPr>
        <p:blipFill>
          <a:blip r:embed="rId3"/>
          <a:stretch>
            <a:fillRect/>
          </a:stretch>
        </p:blipFill>
        <p:spPr>
          <a:xfrm>
            <a:off x="6529060" y="1652171"/>
            <a:ext cx="5659765" cy="511438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4864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2855654" cy="461665"/>
          </a:xfrm>
          <a:prstGeom prst="rect">
            <a:avLst/>
          </a:prstGeom>
          <a:noFill/>
        </p:spPr>
        <p:txBody>
          <a:bodyPr wrap="none">
            <a:spAutoFit/>
          </a:bodyPr>
          <a:lstStyle/>
          <a:p>
            <a:pPr>
              <a:defRPr sz="2400" b="1">
                <a:solidFill>
                  <a:srgbClr val="FFFFFF"/>
                </a:solidFill>
              </a:defRPr>
            </a:pPr>
            <a:r>
              <a:rPr dirty="0">
                <a:latin typeface="Calibri" panose="020F0502020204030204" pitchFamily="34" charset="0"/>
                <a:ea typeface="Calibri" panose="020F0502020204030204" pitchFamily="34" charset="0"/>
                <a:cs typeface="Calibri" panose="020F0502020204030204" pitchFamily="34" charset="0"/>
              </a:rPr>
              <a:t>Executive Dashboard</a:t>
            </a:r>
          </a:p>
        </p:txBody>
      </p:sp>
      <p:pic>
        <p:nvPicPr>
          <p:cNvPr id="4" name="Picture 3" descr="ED .png"/>
          <p:cNvPicPr>
            <a:picLocks noChangeAspect="1"/>
          </p:cNvPicPr>
          <p:nvPr/>
        </p:nvPicPr>
        <p:blipFill>
          <a:blip r:embed="rId2"/>
          <a:stretch>
            <a:fillRect/>
          </a:stretch>
        </p:blipFill>
        <p:spPr>
          <a:xfrm>
            <a:off x="139617" y="2300748"/>
            <a:ext cx="12049207" cy="4465812"/>
          </a:xfrm>
          <a:prstGeom prst="rect">
            <a:avLst/>
          </a:prstGeom>
        </p:spPr>
      </p:pic>
      <p:sp>
        <p:nvSpPr>
          <p:cNvPr id="5" name="TextBox 4"/>
          <p:cNvSpPr txBox="1"/>
          <p:nvPr/>
        </p:nvSpPr>
        <p:spPr>
          <a:xfrm>
            <a:off x="139617" y="640080"/>
            <a:ext cx="11909589" cy="1477328"/>
          </a:xfrm>
          <a:prstGeom prst="rect">
            <a:avLst/>
          </a:prstGeom>
          <a:noFill/>
        </p:spPr>
        <p:txBody>
          <a:bodyPr wrap="square">
            <a:spAutoFit/>
          </a:bodyPr>
          <a:lstStyle/>
          <a:p>
            <a:pPr>
              <a:defRPr sz="1800"/>
            </a:pPr>
            <a:r>
              <a:rPr dirty="0">
                <a:latin typeface="Calibri" panose="020F0502020204030204" pitchFamily="34" charset="0"/>
                <a:ea typeface="Calibri" panose="020F0502020204030204" pitchFamily="34" charset="0"/>
                <a:cs typeface="Calibri" panose="020F0502020204030204" pitchFamily="34" charset="0"/>
              </a:rPr>
              <a:t>• Observation supported by SQL queries and Power BI dashboards.</a:t>
            </a:r>
          </a:p>
          <a:p>
            <a:pPr>
              <a:defRPr sz="1800"/>
            </a:pPr>
            <a:r>
              <a:rPr dirty="0">
                <a:latin typeface="Calibri" panose="020F0502020204030204" pitchFamily="34" charset="0"/>
                <a:ea typeface="Calibri" panose="020F0502020204030204" pitchFamily="34" charset="0"/>
                <a:cs typeface="Calibri" panose="020F0502020204030204" pitchFamily="34" charset="0"/>
              </a:rPr>
              <a:t>• Business implication for </a:t>
            </a:r>
            <a:r>
              <a:rPr dirty="0" err="1">
                <a:latin typeface="Calibri" panose="020F0502020204030204" pitchFamily="34" charset="0"/>
                <a:ea typeface="Calibri" panose="020F0502020204030204" pitchFamily="34" charset="0"/>
                <a:cs typeface="Calibri" panose="020F0502020204030204" pitchFamily="34" charset="0"/>
              </a:rPr>
              <a:t>Olist</a:t>
            </a:r>
            <a:r>
              <a:rPr dirty="0">
                <a:latin typeface="Calibri" panose="020F0502020204030204" pitchFamily="34" charset="0"/>
                <a:ea typeface="Calibri" panose="020F0502020204030204" pitchFamily="34" charset="0"/>
                <a:cs typeface="Calibri" panose="020F0502020204030204" pitchFamily="34" charset="0"/>
              </a:rPr>
              <a:t> management.</a:t>
            </a:r>
          </a:p>
          <a:p>
            <a:pPr>
              <a:defRPr sz="1800"/>
            </a:pPr>
            <a:r>
              <a:rPr dirty="0">
                <a:latin typeface="Calibri" panose="020F0502020204030204" pitchFamily="34" charset="0"/>
                <a:ea typeface="Calibri" panose="020F0502020204030204" pitchFamily="34" charset="0"/>
                <a:cs typeface="Calibri" panose="020F0502020204030204" pitchFamily="34" charset="0"/>
              </a:rPr>
              <a:t>• Risks and opportunities identified.</a:t>
            </a:r>
          </a:p>
          <a:p>
            <a:pPr>
              <a:defRPr sz="1800"/>
            </a:pPr>
            <a:r>
              <a:rPr dirty="0">
                <a:latin typeface="Calibri" panose="020F0502020204030204" pitchFamily="34" charset="0"/>
                <a:ea typeface="Calibri" panose="020F0502020204030204" pitchFamily="34" charset="0"/>
                <a:cs typeface="Calibri" panose="020F0502020204030204" pitchFamily="34" charset="0"/>
              </a:rPr>
              <a:t>• Actionable executive recommendation.</a:t>
            </a:r>
          </a:p>
          <a:p>
            <a:pPr>
              <a:defRPr sz="1800"/>
            </a:pPr>
            <a:r>
              <a:rPr dirty="0">
                <a:latin typeface="Calibri" panose="020F0502020204030204" pitchFamily="34" charset="0"/>
                <a:ea typeface="Calibri" panose="020F0502020204030204" pitchFamily="34" charset="0"/>
                <a:cs typeface="Calibri" panose="020F0502020204030204" pitchFamily="34" charset="0"/>
              </a:rPr>
              <a:t>• Expected KPI impact and monitoring approach.</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4864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2873864" cy="461665"/>
          </a:xfrm>
          <a:prstGeom prst="rect">
            <a:avLst/>
          </a:prstGeom>
          <a:noFill/>
        </p:spPr>
        <p:txBody>
          <a:bodyPr wrap="none">
            <a:spAutoFit/>
          </a:bodyPr>
          <a:lstStyle/>
          <a:p>
            <a:pPr>
              <a:defRPr sz="2400" b="1">
                <a:solidFill>
                  <a:srgbClr val="FFFFFF"/>
                </a:solidFill>
              </a:defRPr>
            </a:pPr>
            <a:r>
              <a:rPr dirty="0">
                <a:latin typeface="Calibri" panose="020F0502020204030204" pitchFamily="34" charset="0"/>
                <a:ea typeface="Calibri" panose="020F0502020204030204" pitchFamily="34" charset="0"/>
                <a:cs typeface="Calibri" panose="020F0502020204030204" pitchFamily="34" charset="0"/>
              </a:rPr>
              <a:t>Customer Dashboard</a:t>
            </a:r>
          </a:p>
        </p:txBody>
      </p:sp>
      <p:pic>
        <p:nvPicPr>
          <p:cNvPr id="4" name="Picture 3" descr="CD.png"/>
          <p:cNvPicPr>
            <a:picLocks noChangeAspect="1"/>
          </p:cNvPicPr>
          <p:nvPr/>
        </p:nvPicPr>
        <p:blipFill>
          <a:blip r:embed="rId2"/>
          <a:stretch>
            <a:fillRect/>
          </a:stretch>
        </p:blipFill>
        <p:spPr>
          <a:xfrm>
            <a:off x="169115" y="1209368"/>
            <a:ext cx="12019710" cy="5557192"/>
          </a:xfrm>
          <a:prstGeom prst="rect">
            <a:avLst/>
          </a:prstGeom>
        </p:spPr>
      </p:pic>
      <p:sp>
        <p:nvSpPr>
          <p:cNvPr id="5" name="TextBox 4"/>
          <p:cNvSpPr txBox="1"/>
          <p:nvPr/>
        </p:nvSpPr>
        <p:spPr>
          <a:xfrm>
            <a:off x="169114" y="640080"/>
            <a:ext cx="11423117" cy="369332"/>
          </a:xfrm>
          <a:prstGeom prst="rect">
            <a:avLst/>
          </a:prstGeom>
          <a:noFill/>
        </p:spPr>
        <p:txBody>
          <a:bodyPr wrap="square">
            <a:spAutoFit/>
          </a:bodyPr>
          <a:lstStyle/>
          <a:p>
            <a:pPr>
              <a:defRPr sz="1800"/>
            </a:pPr>
            <a:r>
              <a:rPr dirty="0">
                <a:latin typeface="Calibri" panose="020F0502020204030204" pitchFamily="34" charset="0"/>
                <a:ea typeface="Calibri" panose="020F0502020204030204" pitchFamily="34" charset="0"/>
                <a:cs typeface="Calibri" panose="020F0502020204030204" pitchFamily="34" charset="0"/>
              </a:rPr>
              <a:t>Observation supported by SQL queries and Power BI dashboards.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4864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p:cNvSpPr txBox="1"/>
          <p:nvPr/>
        </p:nvSpPr>
        <p:spPr>
          <a:xfrm>
            <a:off x="365760" y="91440"/>
            <a:ext cx="10972800" cy="365760"/>
          </a:xfrm>
          <a:prstGeom prst="rect">
            <a:avLst/>
          </a:prstGeom>
          <a:noFill/>
        </p:spPr>
        <p:txBody>
          <a:bodyPr wrap="none">
            <a:spAutoFit/>
          </a:bodyPr>
          <a:lstStyle/>
          <a:p>
            <a:pPr>
              <a:defRPr sz="2400" b="1">
                <a:solidFill>
                  <a:srgbClr val="FFFFFF"/>
                </a:solidFill>
              </a:defRPr>
            </a:pPr>
            <a:r>
              <a:rPr dirty="0"/>
              <a:t>Product Dashboard</a:t>
            </a:r>
          </a:p>
        </p:txBody>
      </p:sp>
      <p:pic>
        <p:nvPicPr>
          <p:cNvPr id="4" name="Picture 3" descr="PD.png"/>
          <p:cNvPicPr>
            <a:picLocks noChangeAspect="1"/>
          </p:cNvPicPr>
          <p:nvPr/>
        </p:nvPicPr>
        <p:blipFill>
          <a:blip r:embed="rId2"/>
          <a:stretch>
            <a:fillRect/>
          </a:stretch>
        </p:blipFill>
        <p:spPr>
          <a:xfrm>
            <a:off x="108155" y="1297858"/>
            <a:ext cx="12080797" cy="5353214"/>
          </a:xfrm>
          <a:prstGeom prst="rect">
            <a:avLst/>
          </a:prstGeom>
        </p:spPr>
      </p:pic>
      <p:sp>
        <p:nvSpPr>
          <p:cNvPr id="5" name="TextBox 4"/>
          <p:cNvSpPr txBox="1"/>
          <p:nvPr/>
        </p:nvSpPr>
        <p:spPr>
          <a:xfrm>
            <a:off x="267437" y="640080"/>
            <a:ext cx="12406343" cy="369332"/>
          </a:xfrm>
          <a:prstGeom prst="rect">
            <a:avLst/>
          </a:prstGeom>
          <a:noFill/>
        </p:spPr>
        <p:txBody>
          <a:bodyPr wrap="square">
            <a:spAutoFit/>
          </a:bodyPr>
          <a:lstStyle/>
          <a:p>
            <a:pPr>
              <a:defRPr sz="1800"/>
            </a:pPr>
            <a:r>
              <a:rPr dirty="0">
                <a:latin typeface="Calibri" panose="020F0502020204030204" pitchFamily="34" charset="0"/>
                <a:ea typeface="Calibri" panose="020F0502020204030204" pitchFamily="34" charset="0"/>
                <a:cs typeface="Calibri" panose="020F0502020204030204" pitchFamily="34" charset="0"/>
              </a:rPr>
              <a:t> Observation</a:t>
            </a:r>
            <a:r>
              <a:rPr lang="en-US" dirty="0">
                <a:latin typeface="Calibri" panose="020F0502020204030204" pitchFamily="34" charset="0"/>
                <a:ea typeface="Calibri" panose="020F0502020204030204" pitchFamily="34" charset="0"/>
                <a:cs typeface="Calibri" panose="020F0502020204030204" pitchFamily="34" charset="0"/>
              </a:rPr>
              <a:t> is</a:t>
            </a:r>
            <a:r>
              <a:rPr dirty="0">
                <a:latin typeface="Calibri" panose="020F0502020204030204" pitchFamily="34" charset="0"/>
                <a:ea typeface="Calibri" panose="020F0502020204030204" pitchFamily="34" charset="0"/>
                <a:cs typeface="Calibri" panose="020F0502020204030204" pitchFamily="34" charset="0"/>
              </a:rPr>
              <a:t> supported by SQL queries and Power BI dashboards</a:t>
            </a:r>
            <a:r>
              <a:rPr lang="en-US" dirty="0">
                <a:latin typeface="Calibri" panose="020F0502020204030204" pitchFamily="34" charset="0"/>
                <a:ea typeface="Calibri" panose="020F0502020204030204" pitchFamily="34" charset="0"/>
                <a:cs typeface="Calibri" panose="020F0502020204030204" pitchFamily="34" charset="0"/>
              </a:rPr>
              <a:t> analysis</a:t>
            </a:r>
            <a:r>
              <a:rPr dirty="0">
                <a:latin typeface="Calibri" panose="020F0502020204030204" pitchFamily="34" charset="0"/>
                <a:ea typeface="Calibri" panose="020F0502020204030204" pitchFamily="34" charset="0"/>
                <a:cs typeface="Calibri" panose="020F0502020204030204" pitchFamily="34" charset="0"/>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4864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149420" y="91440"/>
            <a:ext cx="7515199" cy="830997"/>
          </a:xfrm>
          <a:prstGeom prst="rect">
            <a:avLst/>
          </a:prstGeom>
          <a:noFill/>
        </p:spPr>
        <p:txBody>
          <a:bodyPr wrap="none">
            <a:spAutoFit/>
          </a:bodyPr>
          <a:lstStyle/>
          <a:p>
            <a:pPr>
              <a:defRPr sz="2400" b="1">
                <a:solidFill>
                  <a:srgbClr val="FFFFFF"/>
                </a:solidFill>
              </a:defRPr>
            </a:pPr>
            <a:r>
              <a:rPr dirty="0"/>
              <a:t>Key Business Insights</a:t>
            </a:r>
            <a:r>
              <a:rPr lang="en-US" dirty="0"/>
              <a:t> &amp; Expected Business Impact</a:t>
            </a:r>
          </a:p>
          <a:p>
            <a:pPr>
              <a:defRPr sz="2400" b="1">
                <a:solidFill>
                  <a:srgbClr val="FFFFFF"/>
                </a:solidFill>
              </a:defRPr>
            </a:pPr>
            <a:r>
              <a:rPr lang="en-US" dirty="0"/>
              <a:t> </a:t>
            </a:r>
            <a:endParaRPr dirty="0"/>
          </a:p>
        </p:txBody>
      </p:sp>
      <p:sp>
        <p:nvSpPr>
          <p:cNvPr id="4" name="TextBox 3"/>
          <p:cNvSpPr txBox="1"/>
          <p:nvPr/>
        </p:nvSpPr>
        <p:spPr>
          <a:xfrm>
            <a:off x="149420" y="594360"/>
            <a:ext cx="10282204" cy="5632311"/>
          </a:xfrm>
          <a:prstGeom prst="rect">
            <a:avLst/>
          </a:prstGeom>
          <a:noFill/>
        </p:spPr>
        <p:txBody>
          <a:bodyPr wrap="square">
            <a:spAutoFit/>
          </a:bodyPr>
          <a:lstStyle/>
          <a:p>
            <a:pPr>
              <a:defRPr sz="1800"/>
            </a:pPr>
            <a:r>
              <a:rPr lang="en-US" dirty="0"/>
              <a:t>1: Strong Revenue Growth Indicates Marketplace Expansion(The analysis reveals that </a:t>
            </a:r>
            <a:r>
              <a:rPr lang="en-US" dirty="0" err="1"/>
              <a:t>Olist</a:t>
            </a:r>
            <a:r>
              <a:rPr lang="en-US" dirty="0"/>
              <a:t> experienced significant revenue growth between 2016 and 2018, with 2017 serving as the turning point for business expansion.)</a:t>
            </a:r>
          </a:p>
          <a:p>
            <a:r>
              <a:rPr lang="en-US" b="1" dirty="0"/>
              <a:t>Business Impact</a:t>
            </a:r>
          </a:p>
          <a:p>
            <a:pPr marL="285750" indent="-285750">
              <a:buFont typeface="Wingdings" panose="05000000000000000000" pitchFamily="2" charset="2"/>
              <a:buChar char="Ø"/>
            </a:pPr>
            <a:r>
              <a:rPr lang="en-US" dirty="0"/>
              <a:t>Demonstrates increasing customer confidence. </a:t>
            </a:r>
          </a:p>
          <a:p>
            <a:pPr marL="285750" indent="-285750">
              <a:buFont typeface="Wingdings" panose="05000000000000000000" pitchFamily="2" charset="2"/>
              <a:buChar char="Ø"/>
            </a:pPr>
            <a:r>
              <a:rPr lang="en-US" dirty="0"/>
              <a:t>Indicates effective marketplace penetration. </a:t>
            </a:r>
          </a:p>
          <a:p>
            <a:pPr marL="285750" indent="-285750">
              <a:buFont typeface="Wingdings" panose="05000000000000000000" pitchFamily="2" charset="2"/>
              <a:buChar char="Ø"/>
            </a:pPr>
            <a:r>
              <a:rPr lang="en-US" dirty="0"/>
              <a:t>Provides a strong foundation for future growth strategies. </a:t>
            </a:r>
          </a:p>
          <a:p>
            <a:r>
              <a:rPr lang="en-US" dirty="0"/>
              <a:t>2: Revenue is Highly Concentrated in a Few States(Regional performance analysis shows that São Paulo (SP) consistently generated the highest revenue, followed by Rio de Janeiro (RJ) and Minas Gerais (MG). These three states account for a substantial proportion of total marketplace sales.)</a:t>
            </a:r>
          </a:p>
          <a:p>
            <a:r>
              <a:rPr lang="en-US" b="1" dirty="0"/>
              <a:t>Business Impact</a:t>
            </a:r>
            <a:endParaRPr lang="en-US" dirty="0"/>
          </a:p>
          <a:p>
            <a:pPr marL="285750" indent="-285750">
              <a:buFont typeface="Wingdings" panose="05000000000000000000" pitchFamily="2" charset="2"/>
              <a:buChar char="Ø"/>
            </a:pPr>
            <a:r>
              <a:rPr lang="en-US" dirty="0"/>
              <a:t>Existing marketing efforts are effective in major economic regions. </a:t>
            </a:r>
          </a:p>
          <a:p>
            <a:pPr marL="285750" indent="-285750">
              <a:buFont typeface="Wingdings" panose="05000000000000000000" pitchFamily="2" charset="2"/>
              <a:buChar char="Ø"/>
            </a:pPr>
            <a:r>
              <a:rPr lang="en-US" dirty="0"/>
              <a:t>Geographic revenue concentration increases business risk. </a:t>
            </a:r>
          </a:p>
          <a:p>
            <a:pPr marL="285750" indent="-285750">
              <a:buFont typeface="Wingdings" panose="05000000000000000000" pitchFamily="2" charset="2"/>
              <a:buChar char="Ø"/>
            </a:pPr>
            <a:r>
              <a:rPr lang="en-US" dirty="0"/>
              <a:t>Expansion into underperforming regions presents significant growth opportunities.</a:t>
            </a:r>
          </a:p>
          <a:p>
            <a:endParaRPr lang="en-US" dirty="0"/>
          </a:p>
          <a:p>
            <a:endParaRPr lang="en-US" dirty="0"/>
          </a:p>
          <a:p>
            <a:endParaRPr lang="en-US" dirty="0"/>
          </a:p>
          <a:p>
            <a:endParaRPr lang="en-US" dirty="0"/>
          </a:p>
          <a:p>
            <a:pPr>
              <a:defRPr sz="1800"/>
            </a:pP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1125B-4BF4-DF4A-1F7E-424FE238E024}"/>
              </a:ext>
            </a:extLst>
          </p:cNvPr>
          <p:cNvSpPr>
            <a:spLocks noGrp="1"/>
          </p:cNvSpPr>
          <p:nvPr>
            <p:ph type="title"/>
          </p:nvPr>
        </p:nvSpPr>
        <p:spPr/>
        <p:txBody>
          <a:bodyPr/>
          <a:lstStyle/>
          <a:p>
            <a:br>
              <a:rPr lang="en-US" dirty="0"/>
            </a:br>
            <a:endParaRPr lang="en-US" dirty="0"/>
          </a:p>
        </p:txBody>
      </p:sp>
      <p:sp>
        <p:nvSpPr>
          <p:cNvPr id="3" name="Content Placeholder 2">
            <a:extLst>
              <a:ext uri="{FF2B5EF4-FFF2-40B4-BE49-F238E27FC236}">
                <a16:creationId xmlns:a16="http://schemas.microsoft.com/office/drawing/2014/main" id="{9809CA50-68F3-8CBB-5F19-FDEAA1BE4BD5}"/>
              </a:ext>
            </a:extLst>
          </p:cNvPr>
          <p:cNvSpPr>
            <a:spLocks noGrp="1"/>
          </p:cNvSpPr>
          <p:nvPr>
            <p:ph idx="1"/>
          </p:nvPr>
        </p:nvSpPr>
        <p:spPr>
          <a:xfrm>
            <a:off x="421891" y="586147"/>
            <a:ext cx="9991072" cy="6138503"/>
          </a:xfrm>
        </p:spPr>
        <p:txBody>
          <a:bodyPr>
            <a:normAutofit fontScale="92500" lnSpcReduction="10000"/>
          </a:bodyPr>
          <a:lstStyle/>
          <a:p>
            <a:pPr marL="0" indent="0">
              <a:buClr>
                <a:schemeClr val="tx1"/>
              </a:buClr>
              <a:buNone/>
            </a:pPr>
            <a:r>
              <a:rPr lang="en-US" dirty="0"/>
              <a:t>3: </a:t>
            </a:r>
            <a:r>
              <a:rPr lang="en-US" b="1" dirty="0"/>
              <a:t>Product Sales Follow the Pareto Principle:</a:t>
            </a:r>
          </a:p>
          <a:p>
            <a:pPr marL="0" indent="0">
              <a:buClr>
                <a:schemeClr val="tx1"/>
              </a:buClr>
              <a:buNone/>
            </a:pPr>
            <a:r>
              <a:rPr lang="en-US" dirty="0"/>
              <a:t>Product analysis indicates that a relatively small number of products generate the majority of marketplace revenue, while many products contribute minimally to total </a:t>
            </a:r>
            <a:r>
              <a:rPr lang="en-US" dirty="0" err="1"/>
              <a:t>sales.This</a:t>
            </a:r>
            <a:r>
              <a:rPr lang="en-US" dirty="0"/>
              <a:t> pattern reflects the Pareto Principle (80/20 Rule), where approximately 20% of products drive most business value.</a:t>
            </a:r>
          </a:p>
          <a:p>
            <a:pPr marL="0" indent="0">
              <a:buClr>
                <a:schemeClr val="tx1"/>
              </a:buClr>
              <a:buNone/>
            </a:pPr>
            <a:r>
              <a:rPr lang="en-US" b="1" dirty="0"/>
              <a:t>Business Impact</a:t>
            </a:r>
            <a:endParaRPr lang="en-US" dirty="0"/>
          </a:p>
          <a:p>
            <a:pPr>
              <a:buClr>
                <a:schemeClr val="tx1"/>
              </a:buClr>
              <a:buFont typeface="Wingdings" panose="05000000000000000000" pitchFamily="2" charset="2"/>
              <a:buChar char="Ø"/>
            </a:pPr>
            <a:r>
              <a:rPr lang="en-US" dirty="0"/>
              <a:t>Inventory investment should prioritize high-performing products. </a:t>
            </a:r>
          </a:p>
          <a:p>
            <a:pPr>
              <a:buClr>
                <a:schemeClr val="tx1"/>
              </a:buClr>
              <a:buFont typeface="Wingdings" panose="05000000000000000000" pitchFamily="2" charset="2"/>
              <a:buChar char="Ø"/>
            </a:pPr>
            <a:r>
              <a:rPr lang="en-US" dirty="0"/>
              <a:t>Low-performing products require optimization or discontinuation. </a:t>
            </a:r>
          </a:p>
          <a:p>
            <a:pPr>
              <a:buClr>
                <a:schemeClr val="tx1"/>
              </a:buClr>
              <a:buFont typeface="Wingdings" panose="05000000000000000000" pitchFamily="2" charset="2"/>
              <a:buChar char="Ø"/>
            </a:pPr>
            <a:r>
              <a:rPr lang="en-US" dirty="0"/>
              <a:t>Product portfolio management can significantly improve profitability. </a:t>
            </a:r>
          </a:p>
          <a:p>
            <a:pPr marL="0" indent="0">
              <a:buClr>
                <a:schemeClr val="tx1"/>
              </a:buClr>
              <a:buNone/>
            </a:pPr>
            <a:r>
              <a:rPr lang="en-US" dirty="0"/>
              <a:t>4: </a:t>
            </a:r>
            <a:r>
              <a:rPr lang="en-US" b="1" dirty="0"/>
              <a:t>Customer Acquisition is Strong, but Customer Retention Needs Improvement</a:t>
            </a:r>
          </a:p>
          <a:p>
            <a:pPr marL="0" indent="0">
              <a:buClr>
                <a:schemeClr val="tx1"/>
              </a:buClr>
              <a:buNone/>
            </a:pPr>
            <a:r>
              <a:rPr lang="en-US" dirty="0"/>
              <a:t>Although </a:t>
            </a:r>
            <a:r>
              <a:rPr lang="en-US" dirty="0" err="1"/>
              <a:t>Olist</a:t>
            </a:r>
            <a:r>
              <a:rPr lang="en-US" dirty="0"/>
              <a:t> continues to attract new customers, repeat customer analysis indicates that customer retention remains relatively low. This suggests customers purchase once but do not consistently return to the platform.</a:t>
            </a:r>
          </a:p>
          <a:p>
            <a:pPr marL="0" indent="0">
              <a:buClr>
                <a:schemeClr val="tx1"/>
              </a:buClr>
              <a:buNone/>
            </a:pPr>
            <a:r>
              <a:rPr lang="en-US" b="1" dirty="0"/>
              <a:t>Business Impact</a:t>
            </a:r>
            <a:endParaRPr lang="en-US" dirty="0"/>
          </a:p>
          <a:p>
            <a:pPr>
              <a:buClr>
                <a:schemeClr val="tx1"/>
              </a:buClr>
              <a:buFont typeface="Wingdings" panose="05000000000000000000" pitchFamily="2" charset="2"/>
              <a:buChar char="Ø"/>
            </a:pPr>
            <a:r>
              <a:rPr lang="en-US" dirty="0"/>
              <a:t>High customer acquisition costs. </a:t>
            </a:r>
          </a:p>
          <a:p>
            <a:pPr>
              <a:buClr>
                <a:schemeClr val="tx1"/>
              </a:buClr>
              <a:buFont typeface="Wingdings" panose="05000000000000000000" pitchFamily="2" charset="2"/>
              <a:buChar char="Ø"/>
            </a:pPr>
            <a:r>
              <a:rPr lang="en-US" dirty="0"/>
              <a:t>Lower Customer Lifetime Value (CLV). </a:t>
            </a:r>
          </a:p>
          <a:p>
            <a:pPr>
              <a:buClr>
                <a:schemeClr val="tx1"/>
              </a:buClr>
              <a:buFont typeface="Wingdings" panose="05000000000000000000" pitchFamily="2" charset="2"/>
              <a:buChar char="Ø"/>
            </a:pPr>
            <a:r>
              <a:rPr lang="en-US" dirty="0"/>
              <a:t>Missed opportunities for recurring revenue. </a:t>
            </a:r>
          </a:p>
          <a:p>
            <a:pPr>
              <a:buClr>
                <a:schemeClr val="tx1"/>
              </a:buClr>
              <a:buFont typeface="Wingdings" panose="05000000000000000000" pitchFamily="2" charset="2"/>
              <a:buChar char="Ø"/>
            </a:pPr>
            <a:endParaRPr lang="en-US" dirty="0"/>
          </a:p>
          <a:p>
            <a:pPr>
              <a:buClr>
                <a:schemeClr val="tx1"/>
              </a:buClr>
              <a:buFont typeface="Wingdings" panose="05000000000000000000" pitchFamily="2" charset="2"/>
              <a:buChar char="Ø"/>
            </a:pPr>
            <a:endParaRPr lang="en-US" dirty="0"/>
          </a:p>
          <a:p>
            <a:pPr>
              <a:buClr>
                <a:schemeClr val="tx1"/>
              </a:buClr>
              <a:buFont typeface="Wingdings" panose="05000000000000000000" pitchFamily="2" charset="2"/>
              <a:buChar char="Ø"/>
            </a:pPr>
            <a:endParaRPr lang="en-US" dirty="0"/>
          </a:p>
          <a:p>
            <a:pPr>
              <a:buClr>
                <a:schemeClr val="tx1"/>
              </a:buClr>
              <a:buFont typeface="Wingdings" panose="05000000000000000000" pitchFamily="2" charset="2"/>
              <a:buChar char="Ø"/>
            </a:pPr>
            <a:endParaRPr lang="en-US" dirty="0"/>
          </a:p>
        </p:txBody>
      </p:sp>
      <p:sp>
        <p:nvSpPr>
          <p:cNvPr id="4" name="Rectangle 3">
            <a:extLst>
              <a:ext uri="{FF2B5EF4-FFF2-40B4-BE49-F238E27FC236}">
                <a16:creationId xmlns:a16="http://schemas.microsoft.com/office/drawing/2014/main" id="{8C106BDA-2399-C8A6-3E35-B42DAE2F10BE}"/>
              </a:ext>
            </a:extLst>
          </p:cNvPr>
          <p:cNvSpPr/>
          <p:nvPr/>
        </p:nvSpPr>
        <p:spPr>
          <a:xfrm>
            <a:off x="0" y="0"/>
            <a:ext cx="12188952" cy="54864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b="1" dirty="0"/>
              <a:t>      Key Business Insights &amp; Expected Business Impact</a:t>
            </a:r>
            <a:endParaRPr b="1" dirty="0"/>
          </a:p>
        </p:txBody>
      </p:sp>
    </p:spTree>
    <p:extLst>
      <p:ext uri="{BB962C8B-B14F-4D97-AF65-F5344CB8AC3E}">
        <p14:creationId xmlns:p14="http://schemas.microsoft.com/office/powerpoint/2010/main" val="2901296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77E4D6-00C6-C11D-A664-C9361F6EB7C6}"/>
              </a:ext>
            </a:extLst>
          </p:cNvPr>
          <p:cNvSpPr>
            <a:spLocks noGrp="1"/>
          </p:cNvSpPr>
          <p:nvPr>
            <p:ph type="title"/>
          </p:nvPr>
        </p:nvSpPr>
        <p:spPr/>
        <p:txBody>
          <a:bodyPr/>
          <a:lstStyle/>
          <a:p>
            <a:pPr marR="0" lvl="0" algn="l" defTabSz="914400" rtl="0" eaLnBrk="0" fontAlgn="base" latinLnBrk="0" hangingPunct="0">
              <a:lnSpc>
                <a:spcPct val="100000"/>
              </a:lnSpc>
              <a:spcBef>
                <a:spcPct val="0"/>
              </a:spcBef>
              <a:spcAft>
                <a:spcPct val="0"/>
              </a:spcAft>
              <a:buClrTx/>
              <a:buSzTx/>
              <a:tabLst/>
            </a:pPr>
            <a:br>
              <a:rPr kumimoji="0" lang="en-US" altLang="en-US" sz="4400" b="0" i="0" u="none" strike="noStrike" cap="none" normalizeH="0" baseline="0" dirty="0">
                <a:ln>
                  <a:noFill/>
                </a:ln>
                <a:solidFill>
                  <a:schemeClr val="tx1"/>
                </a:solidFill>
                <a:effectLst/>
                <a:latin typeface="Arial" panose="020B0604020202020204" pitchFamily="34" charset="0"/>
              </a:rPr>
            </a:br>
            <a:endParaRPr lang="en-US" dirty="0"/>
          </a:p>
        </p:txBody>
      </p:sp>
      <p:sp>
        <p:nvSpPr>
          <p:cNvPr id="6" name="Rectangle 5">
            <a:extLst>
              <a:ext uri="{FF2B5EF4-FFF2-40B4-BE49-F238E27FC236}">
                <a16:creationId xmlns:a16="http://schemas.microsoft.com/office/drawing/2014/main" id="{EFDE6B01-4E84-8A7A-72AA-6E7A6B5B66FC}"/>
              </a:ext>
            </a:extLst>
          </p:cNvPr>
          <p:cNvSpPr/>
          <p:nvPr/>
        </p:nvSpPr>
        <p:spPr>
          <a:xfrm>
            <a:off x="0" y="0"/>
            <a:ext cx="12188952" cy="54864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sz="2400" b="1" dirty="0">
                <a:latin typeface="Calibri" panose="020F0502020204030204" pitchFamily="34" charset="0"/>
                <a:ea typeface="Calibri" panose="020F0502020204030204" pitchFamily="34" charset="0"/>
                <a:cs typeface="Calibri" panose="020F0502020204030204" pitchFamily="34" charset="0"/>
              </a:rPr>
              <a:t>      Key Business Insights &amp; Expected Business Impact</a:t>
            </a:r>
            <a:endParaRPr sz="2400" b="1" dirty="0">
              <a:latin typeface="Calibri" panose="020F0502020204030204" pitchFamily="34" charset="0"/>
              <a:ea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81A51151-A2CF-2799-7024-250D2D491FF3}"/>
              </a:ext>
            </a:extLst>
          </p:cNvPr>
          <p:cNvSpPr txBox="1"/>
          <p:nvPr/>
        </p:nvSpPr>
        <p:spPr>
          <a:xfrm>
            <a:off x="3023119" y="1568345"/>
            <a:ext cx="6139542" cy="369332"/>
          </a:xfrm>
          <a:prstGeom prst="rect">
            <a:avLst/>
          </a:prstGeom>
          <a:noFill/>
        </p:spPr>
        <p:txBody>
          <a:bodyPr wrap="square">
            <a:spAutoFit/>
          </a:bodyPr>
          <a:lstStyle/>
          <a:p>
            <a:endParaRPr lang="en-US" dirty="0"/>
          </a:p>
        </p:txBody>
      </p:sp>
      <p:sp>
        <p:nvSpPr>
          <p:cNvPr id="21" name="Content Placeholder 20">
            <a:extLst>
              <a:ext uri="{FF2B5EF4-FFF2-40B4-BE49-F238E27FC236}">
                <a16:creationId xmlns:a16="http://schemas.microsoft.com/office/drawing/2014/main" id="{34D72503-8007-C0AB-478B-2A3D26587C18}"/>
              </a:ext>
            </a:extLst>
          </p:cNvPr>
          <p:cNvSpPr>
            <a:spLocks noGrp="1"/>
          </p:cNvSpPr>
          <p:nvPr>
            <p:ph idx="1"/>
          </p:nvPr>
        </p:nvSpPr>
        <p:spPr>
          <a:xfrm>
            <a:off x="0" y="548640"/>
            <a:ext cx="10915649" cy="6309359"/>
          </a:xfrm>
        </p:spPr>
        <p:txBody>
          <a:bodyPr>
            <a:normAutofit/>
          </a:bodyPr>
          <a:lstStyle/>
          <a:p>
            <a:pPr marL="0" indent="0">
              <a:buClr>
                <a:schemeClr val="tx1"/>
              </a:buClr>
              <a:buNone/>
            </a:pPr>
            <a:r>
              <a:rPr lang="en-US" sz="1800" b="1" dirty="0">
                <a:latin typeface="Calibri" panose="020F0502020204030204" pitchFamily="34" charset="0"/>
                <a:ea typeface="Calibri" panose="020F0502020204030204" pitchFamily="34" charset="0"/>
                <a:cs typeface="Calibri" panose="020F0502020204030204" pitchFamily="34" charset="0"/>
              </a:rPr>
              <a:t>5: Customer Purchasing Behavior Shows Seasonal Trends</a:t>
            </a:r>
          </a:p>
          <a:p>
            <a:pPr marL="0" indent="0">
              <a:buClr>
                <a:schemeClr val="tx1"/>
              </a:buClr>
              <a:buNone/>
            </a:pPr>
            <a:r>
              <a:rPr lang="en-US" sz="1800" dirty="0">
                <a:latin typeface="Calibri" panose="020F0502020204030204" pitchFamily="34" charset="0"/>
                <a:ea typeface="Calibri" panose="020F0502020204030204" pitchFamily="34" charset="0"/>
                <a:cs typeface="Calibri" panose="020F0502020204030204" pitchFamily="34" charset="0"/>
              </a:rPr>
              <a:t>Monthly sales growth demonstrates seasonal purchasing patterns, with peak transaction periods occurring during promotional events and holiday seasons. Understanding these trends enables better inventory planning and marketing campaign scheduling.</a:t>
            </a:r>
          </a:p>
          <a:p>
            <a:pPr marL="0" indent="0">
              <a:buClr>
                <a:schemeClr val="tx1"/>
              </a:buClr>
              <a:buNone/>
            </a:pPr>
            <a:r>
              <a:rPr lang="en-US" sz="1800" b="1" dirty="0">
                <a:latin typeface="Calibri" panose="020F0502020204030204" pitchFamily="34" charset="0"/>
                <a:ea typeface="Calibri" panose="020F0502020204030204" pitchFamily="34" charset="0"/>
                <a:cs typeface="Calibri" panose="020F0502020204030204" pitchFamily="34" charset="0"/>
              </a:rPr>
              <a:t>Business Impact</a:t>
            </a:r>
            <a:endParaRPr lang="en-US" sz="1800" dirty="0">
              <a:latin typeface="Calibri" panose="020F0502020204030204" pitchFamily="34" charset="0"/>
              <a:ea typeface="Calibri" panose="020F0502020204030204" pitchFamily="34" charset="0"/>
              <a:cs typeface="Calibri" panose="020F0502020204030204" pitchFamily="34" charset="0"/>
            </a:endParaRPr>
          </a:p>
          <a:p>
            <a:pPr>
              <a:buClr>
                <a:schemeClr val="tx1"/>
              </a:buClr>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Improved inventory forecasting. </a:t>
            </a:r>
          </a:p>
          <a:p>
            <a:pPr>
              <a:buClr>
                <a:schemeClr val="tx1"/>
              </a:buClr>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Better promotional planning. </a:t>
            </a:r>
          </a:p>
          <a:p>
            <a:pPr>
              <a:buClr>
                <a:schemeClr val="tx1"/>
              </a:buClr>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Reduced stock shortages.</a:t>
            </a:r>
          </a:p>
          <a:p>
            <a:pPr marL="0" indent="0">
              <a:buClr>
                <a:schemeClr val="tx1"/>
              </a:buClr>
              <a:buNone/>
            </a:pPr>
            <a:r>
              <a:rPr lang="en-US" sz="1800" b="1" dirty="0">
                <a:latin typeface="Calibri" panose="020F0502020204030204" pitchFamily="34" charset="0"/>
                <a:ea typeface="Calibri" panose="020F0502020204030204" pitchFamily="34" charset="0"/>
                <a:cs typeface="Calibri" panose="020F0502020204030204" pitchFamily="34" charset="0"/>
              </a:rPr>
              <a:t>6: A Small Number of Customers Generate Significant Revenue</a:t>
            </a:r>
          </a:p>
          <a:p>
            <a:pPr marL="0" indent="0">
              <a:buClr>
                <a:schemeClr val="tx1"/>
              </a:buClr>
              <a:buNone/>
            </a:pPr>
            <a:r>
              <a:rPr lang="en-US" sz="1800" dirty="0">
                <a:latin typeface="Calibri" panose="020F0502020204030204" pitchFamily="34" charset="0"/>
                <a:ea typeface="Calibri" panose="020F0502020204030204" pitchFamily="34" charset="0"/>
                <a:cs typeface="Calibri" panose="020F0502020204030204" pitchFamily="34" charset="0"/>
              </a:rPr>
              <a:t>Top customer analysis reveals that a relatively small customer segment contributes disproportionately to overall revenue. These customers represent high-value business assets.</a:t>
            </a:r>
          </a:p>
          <a:p>
            <a:pPr marL="0" indent="0">
              <a:buClr>
                <a:schemeClr val="tx1"/>
              </a:buClr>
              <a:buNone/>
            </a:pPr>
            <a:r>
              <a:rPr lang="en-US" sz="1800" b="1" dirty="0">
                <a:latin typeface="Calibri" panose="020F0502020204030204" pitchFamily="34" charset="0"/>
                <a:ea typeface="Calibri" panose="020F0502020204030204" pitchFamily="34" charset="0"/>
                <a:cs typeface="Calibri" panose="020F0502020204030204" pitchFamily="34" charset="0"/>
              </a:rPr>
              <a:t>Business Impact</a:t>
            </a:r>
            <a:endParaRPr lang="en-US" sz="1800" dirty="0">
              <a:latin typeface="Calibri" panose="020F0502020204030204" pitchFamily="34" charset="0"/>
              <a:ea typeface="Calibri" panose="020F0502020204030204" pitchFamily="34" charset="0"/>
              <a:cs typeface="Calibri" panose="020F0502020204030204" pitchFamily="34" charset="0"/>
            </a:endParaRPr>
          </a:p>
          <a:p>
            <a:pPr>
              <a:buClr>
                <a:schemeClr val="tx1"/>
              </a:buClr>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High-value customers should receive personalized engagement. </a:t>
            </a:r>
          </a:p>
          <a:p>
            <a:pPr>
              <a:buClr>
                <a:schemeClr val="tx1"/>
              </a:buClr>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Customer loyalty initiatives should focus on premium customers. </a:t>
            </a:r>
          </a:p>
          <a:p>
            <a:pPr>
              <a:buClr>
                <a:schemeClr val="tx1"/>
              </a:buClr>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VIP customer programs can increase retention.</a:t>
            </a:r>
          </a:p>
          <a:p>
            <a:pPr>
              <a:buClr>
                <a:schemeClr val="tx1"/>
              </a:buClr>
              <a:buFont typeface="Wingdings" panose="05000000000000000000" pitchFamily="2" charset="2"/>
              <a:buChar char="Ø"/>
            </a:pPr>
            <a:endParaRPr lang="en-US" dirty="0"/>
          </a:p>
        </p:txBody>
      </p:sp>
    </p:spTree>
    <p:extLst>
      <p:ext uri="{BB962C8B-B14F-4D97-AF65-F5344CB8AC3E}">
        <p14:creationId xmlns:p14="http://schemas.microsoft.com/office/powerpoint/2010/main" val="12266612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4864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3754746" cy="461665"/>
          </a:xfrm>
          <a:prstGeom prst="rect">
            <a:avLst/>
          </a:prstGeom>
          <a:noFill/>
        </p:spPr>
        <p:txBody>
          <a:bodyPr wrap="none">
            <a:spAutoFit/>
          </a:bodyPr>
          <a:lstStyle/>
          <a:p>
            <a:pPr>
              <a:defRPr sz="2400" b="1">
                <a:solidFill>
                  <a:srgbClr val="FFFFFF"/>
                </a:solidFill>
              </a:defRPr>
            </a:pPr>
            <a:r>
              <a:rPr dirty="0">
                <a:latin typeface="Calibri" panose="020F0502020204030204" pitchFamily="34" charset="0"/>
                <a:ea typeface="Calibri" panose="020F0502020204030204" pitchFamily="34" charset="0"/>
                <a:cs typeface="Calibri" panose="020F0502020204030204" pitchFamily="34" charset="0"/>
              </a:rPr>
              <a:t>Strategic Recommendations</a:t>
            </a:r>
          </a:p>
        </p:txBody>
      </p:sp>
      <p:sp>
        <p:nvSpPr>
          <p:cNvPr id="7" name="Title 4">
            <a:extLst>
              <a:ext uri="{FF2B5EF4-FFF2-40B4-BE49-F238E27FC236}">
                <a16:creationId xmlns:a16="http://schemas.microsoft.com/office/drawing/2014/main" id="{0C9A46A8-8280-18B5-C591-A93A49FFA4D0}"/>
              </a:ext>
            </a:extLst>
          </p:cNvPr>
          <p:cNvSpPr>
            <a:spLocks noGrp="1"/>
          </p:cNvSpPr>
          <p:nvPr>
            <p:ph idx="1"/>
          </p:nvPr>
        </p:nvSpPr>
        <p:spPr>
          <a:xfrm>
            <a:off x="1" y="639763"/>
            <a:ext cx="10972800" cy="6126797"/>
          </a:xfrm>
        </p:spPr>
        <p:txBody>
          <a:bodyPr>
            <a:normAutofit/>
          </a:bodyPr>
          <a:lstStyle/>
          <a:p>
            <a:pPr marL="0" indent="0">
              <a:buClr>
                <a:schemeClr val="tx1"/>
              </a:buClr>
              <a:buNone/>
            </a:pPr>
            <a:r>
              <a:rPr lang="en-US" sz="1800" b="1" dirty="0">
                <a:latin typeface="Calibri" panose="020F0502020204030204" pitchFamily="34" charset="0"/>
                <a:ea typeface="Calibri" panose="020F0502020204030204" pitchFamily="34" charset="0"/>
                <a:cs typeface="Calibri" panose="020F0502020204030204" pitchFamily="34" charset="0"/>
              </a:rPr>
              <a:t>1: Develop a Customer Loyalty Program</a:t>
            </a:r>
          </a:p>
          <a:p>
            <a:pPr marL="0" indent="0">
              <a:buClr>
                <a:schemeClr val="tx1"/>
              </a:buClr>
              <a:buNone/>
            </a:pPr>
            <a:r>
              <a:rPr lang="en-US" sz="1800" dirty="0">
                <a:latin typeface="Calibri" panose="020F0502020204030204" pitchFamily="34" charset="0"/>
                <a:ea typeface="Calibri" panose="020F0502020204030204" pitchFamily="34" charset="0"/>
                <a:cs typeface="Calibri" panose="020F0502020204030204" pitchFamily="34" charset="0"/>
              </a:rPr>
              <a:t>Introduce a tiered customer loyalty program that rewards repeat purchases through discounts, reward points, exclusive promotions, and personalized offers.</a:t>
            </a:r>
          </a:p>
          <a:p>
            <a:pPr>
              <a:buClr>
                <a:schemeClr val="tx1"/>
              </a:buClr>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Expected Outcome</a:t>
            </a:r>
            <a:endParaRPr lang="en-US" sz="1800" dirty="0">
              <a:latin typeface="Calibri" panose="020F0502020204030204" pitchFamily="34" charset="0"/>
              <a:ea typeface="Calibri" panose="020F0502020204030204" pitchFamily="34" charset="0"/>
              <a:cs typeface="Calibri" panose="020F0502020204030204" pitchFamily="34" charset="0"/>
            </a:endParaRPr>
          </a:p>
          <a:p>
            <a:pPr>
              <a:buClr>
                <a:schemeClr val="tx1"/>
              </a:buClr>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Increased repeat purchase rate </a:t>
            </a:r>
          </a:p>
          <a:p>
            <a:pPr>
              <a:buClr>
                <a:schemeClr val="tx1"/>
              </a:buClr>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Higher Customer Lifetime Value </a:t>
            </a:r>
          </a:p>
          <a:p>
            <a:pPr>
              <a:buClr>
                <a:schemeClr val="tx1"/>
              </a:buClr>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Improved customer retention</a:t>
            </a:r>
          </a:p>
          <a:p>
            <a:pPr marL="0" indent="0">
              <a:buClr>
                <a:schemeClr val="tx1"/>
              </a:buClr>
              <a:buNone/>
            </a:pPr>
            <a:r>
              <a:rPr lang="en-US" sz="1800" b="1" dirty="0">
                <a:latin typeface="Calibri" panose="020F0502020204030204" pitchFamily="34" charset="0"/>
                <a:ea typeface="Calibri" panose="020F0502020204030204" pitchFamily="34" charset="0"/>
                <a:cs typeface="Calibri" panose="020F0502020204030204" pitchFamily="34" charset="0"/>
              </a:rPr>
              <a:t>2: Expand Marketing into Emerging Regions</a:t>
            </a:r>
          </a:p>
          <a:p>
            <a:pPr marL="0" indent="0">
              <a:buClr>
                <a:schemeClr val="tx1"/>
              </a:buClr>
              <a:buNone/>
            </a:pPr>
            <a:r>
              <a:rPr lang="en-US" sz="1800" dirty="0">
                <a:latin typeface="Calibri" panose="020F0502020204030204" pitchFamily="34" charset="0"/>
                <a:ea typeface="Calibri" panose="020F0502020204030204" pitchFamily="34" charset="0"/>
                <a:cs typeface="Calibri" panose="020F0502020204030204" pitchFamily="34" charset="0"/>
              </a:rPr>
              <a:t>While São Paulo dominates sales, additional investment should target underperforming states through localized digital marketing campaigns.</a:t>
            </a:r>
          </a:p>
          <a:p>
            <a:pPr marL="0" indent="0">
              <a:buClr>
                <a:schemeClr val="tx1"/>
              </a:buClr>
              <a:buNone/>
            </a:pPr>
            <a:r>
              <a:rPr lang="en-US" sz="1800" b="1" dirty="0">
                <a:latin typeface="Calibri" panose="020F0502020204030204" pitchFamily="34" charset="0"/>
                <a:ea typeface="Calibri" panose="020F0502020204030204" pitchFamily="34" charset="0"/>
                <a:cs typeface="Calibri" panose="020F0502020204030204" pitchFamily="34" charset="0"/>
              </a:rPr>
              <a:t>Expected Outcome</a:t>
            </a:r>
            <a:endParaRPr lang="en-US" sz="1800" dirty="0">
              <a:latin typeface="Calibri" panose="020F0502020204030204" pitchFamily="34" charset="0"/>
              <a:ea typeface="Calibri" panose="020F0502020204030204" pitchFamily="34" charset="0"/>
              <a:cs typeface="Calibri" panose="020F0502020204030204" pitchFamily="34" charset="0"/>
            </a:endParaRPr>
          </a:p>
          <a:p>
            <a:pPr>
              <a:buClr>
                <a:schemeClr val="tx1"/>
              </a:buClr>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Geographic revenue diversification </a:t>
            </a:r>
          </a:p>
          <a:p>
            <a:pPr>
              <a:buClr>
                <a:schemeClr val="tx1"/>
              </a:buClr>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Increased customer acquisition </a:t>
            </a:r>
          </a:p>
          <a:p>
            <a:pPr>
              <a:buClr>
                <a:schemeClr val="tx1"/>
              </a:buClr>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Reduced dependence on one region</a:t>
            </a:r>
          </a:p>
          <a:p>
            <a:pPr>
              <a:buClr>
                <a:schemeClr val="tx1"/>
              </a:buClr>
              <a:buFont typeface="Wingdings" panose="05000000000000000000" pitchFamily="2" charset="2"/>
              <a:buChar char="Ø"/>
            </a:pP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29425A1-1EFE-0CC6-EFA9-58FAA343EEDF}"/>
              </a:ext>
            </a:extLst>
          </p:cNvPr>
          <p:cNvSpPr txBox="1"/>
          <p:nvPr/>
        </p:nvSpPr>
        <p:spPr>
          <a:xfrm>
            <a:off x="2299080" y="147935"/>
            <a:ext cx="6096000" cy="461665"/>
          </a:xfrm>
          <a:prstGeom prst="rect">
            <a:avLst/>
          </a:prstGeom>
          <a:noFill/>
        </p:spPr>
        <p:txBody>
          <a:bodyPr wrap="square">
            <a:spAutoFit/>
          </a:bodyPr>
          <a:lstStyle/>
          <a:p>
            <a:pPr>
              <a:defRPr sz="2400" b="1">
                <a:solidFill>
                  <a:srgbClr val="FFFFFF"/>
                </a:solidFill>
              </a:defRPr>
            </a:pPr>
            <a:r>
              <a:rPr lang="en-US" dirty="0"/>
              <a:t>Strategic Recommendations</a:t>
            </a:r>
          </a:p>
        </p:txBody>
      </p:sp>
      <p:sp>
        <p:nvSpPr>
          <p:cNvPr id="10" name="Rectangle 9">
            <a:extLst>
              <a:ext uri="{FF2B5EF4-FFF2-40B4-BE49-F238E27FC236}">
                <a16:creationId xmlns:a16="http://schemas.microsoft.com/office/drawing/2014/main" id="{31A90131-4415-F525-CB8A-D97BE626AD45}"/>
              </a:ext>
            </a:extLst>
          </p:cNvPr>
          <p:cNvSpPr/>
          <p:nvPr/>
        </p:nvSpPr>
        <p:spPr>
          <a:xfrm>
            <a:off x="0" y="0"/>
            <a:ext cx="12188952" cy="54864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5F5C632D-99F0-E990-BAFF-88961539A8E0}"/>
              </a:ext>
            </a:extLst>
          </p:cNvPr>
          <p:cNvSpPr txBox="1"/>
          <p:nvPr/>
        </p:nvSpPr>
        <p:spPr>
          <a:xfrm>
            <a:off x="365760" y="91440"/>
            <a:ext cx="10972800" cy="365760"/>
          </a:xfrm>
          <a:prstGeom prst="rect">
            <a:avLst/>
          </a:prstGeom>
          <a:noFill/>
        </p:spPr>
        <p:txBody>
          <a:bodyPr wrap="none">
            <a:spAutoFit/>
          </a:bodyPr>
          <a:lstStyle/>
          <a:p>
            <a:pPr>
              <a:defRPr sz="2400" b="1">
                <a:solidFill>
                  <a:srgbClr val="FFFFFF"/>
                </a:solidFill>
              </a:defRPr>
            </a:pPr>
            <a:r>
              <a:rPr dirty="0"/>
              <a:t>Strategic Recommendations</a:t>
            </a:r>
          </a:p>
        </p:txBody>
      </p:sp>
      <p:sp>
        <p:nvSpPr>
          <p:cNvPr id="12" name="Title 4">
            <a:extLst>
              <a:ext uri="{FF2B5EF4-FFF2-40B4-BE49-F238E27FC236}">
                <a16:creationId xmlns:a16="http://schemas.microsoft.com/office/drawing/2014/main" id="{2BCDDFE1-2358-9A87-855F-757FAE48750A}"/>
              </a:ext>
            </a:extLst>
          </p:cNvPr>
          <p:cNvSpPr txBox="1">
            <a:spLocks/>
          </p:cNvSpPr>
          <p:nvPr/>
        </p:nvSpPr>
        <p:spPr>
          <a:xfrm>
            <a:off x="0" y="548640"/>
            <a:ext cx="11338559" cy="6309360"/>
          </a:xfrm>
          <a:prstGeom prst="rect">
            <a:avLst/>
          </a:prstGeom>
        </p:spPr>
        <p:txBody>
          <a:bodyPr vert="horz" lIns="91440" tIns="45720" rIns="91440" bIns="45720" rtlCol="0">
            <a:noAutofit/>
          </a:bodyPr>
          <a:lstStyle>
            <a:lvl1pPr marL="342797" indent="-342797" algn="l" defTabSz="457063" rtl="0" eaLnBrk="1" latinLnBrk="0" hangingPunct="1">
              <a:spcBef>
                <a:spcPts val="1000"/>
              </a:spcBef>
              <a:spcAft>
                <a:spcPts val="0"/>
              </a:spcAft>
              <a:buClr>
                <a:schemeClr val="bg2">
                  <a:lumMod val="40000"/>
                  <a:lumOff val="60000"/>
                </a:schemeClr>
              </a:buClr>
              <a:buSzPct val="80000"/>
              <a:buFont typeface="Wingdings 3" charset="2"/>
              <a:buChar char=""/>
              <a:defRPr sz="1999" b="0" i="0" kern="1200">
                <a:solidFill>
                  <a:schemeClr val="tx1"/>
                </a:solidFill>
                <a:latin typeface="+mj-lt"/>
                <a:ea typeface="+mj-ea"/>
                <a:cs typeface="+mj-cs"/>
              </a:defRPr>
            </a:lvl1pPr>
            <a:lvl2pPr marL="742727" indent="-285664" algn="l" defTabSz="457063" rtl="0" eaLnBrk="1" latinLnBrk="0" hangingPunct="1">
              <a:spcBef>
                <a:spcPts val="1000"/>
              </a:spcBef>
              <a:spcAft>
                <a:spcPts val="0"/>
              </a:spcAft>
              <a:buClr>
                <a:schemeClr val="bg2">
                  <a:lumMod val="40000"/>
                  <a:lumOff val="60000"/>
                </a:schemeClr>
              </a:buClr>
              <a:buSzPct val="80000"/>
              <a:buFont typeface="Wingdings 3" charset="2"/>
              <a:buChar char=""/>
              <a:defRPr sz="1799" b="0" i="0" kern="1200">
                <a:solidFill>
                  <a:schemeClr val="tx1"/>
                </a:solidFill>
                <a:latin typeface="+mj-lt"/>
                <a:ea typeface="+mj-ea"/>
                <a:cs typeface="+mj-cs"/>
              </a:defRPr>
            </a:lvl2pPr>
            <a:lvl3pPr marL="1142657"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599720"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6783"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5248"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0908"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7971"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5034"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Clr>
                <a:schemeClr val="tx1"/>
              </a:buClr>
              <a:buNone/>
            </a:pPr>
            <a:r>
              <a:rPr lang="en-US" sz="1800" b="1" dirty="0">
                <a:latin typeface="Calibri" panose="020F0502020204030204" pitchFamily="34" charset="0"/>
                <a:ea typeface="Calibri" panose="020F0502020204030204" pitchFamily="34" charset="0"/>
                <a:cs typeface="Calibri" panose="020F0502020204030204" pitchFamily="34" charset="0"/>
              </a:rPr>
              <a:t>3: Optimize Product Portfolio</a:t>
            </a:r>
          </a:p>
          <a:p>
            <a:pPr marL="0" indent="0">
              <a:buClr>
                <a:schemeClr val="tx1"/>
              </a:buClr>
              <a:buNone/>
            </a:pPr>
            <a:r>
              <a:rPr lang="en-US" sz="1800" dirty="0">
                <a:latin typeface="Calibri" panose="020F0502020204030204" pitchFamily="34" charset="0"/>
                <a:ea typeface="Calibri" panose="020F0502020204030204" pitchFamily="34" charset="0"/>
                <a:cs typeface="Calibri" panose="020F0502020204030204" pitchFamily="34" charset="0"/>
              </a:rPr>
              <a:t>Increase inventory levels for top-selling products while reviewing low-performing products for bundling, discounting, or discontinuation.</a:t>
            </a:r>
          </a:p>
          <a:p>
            <a:pPr marL="0" indent="0">
              <a:buClr>
                <a:schemeClr val="tx1"/>
              </a:buClr>
              <a:buNone/>
            </a:pPr>
            <a:r>
              <a:rPr lang="en-US" sz="1800" b="1" dirty="0">
                <a:latin typeface="Calibri" panose="020F0502020204030204" pitchFamily="34" charset="0"/>
                <a:ea typeface="Calibri" panose="020F0502020204030204" pitchFamily="34" charset="0"/>
                <a:cs typeface="Calibri" panose="020F0502020204030204" pitchFamily="34" charset="0"/>
              </a:rPr>
              <a:t>Expected Outcome</a:t>
            </a:r>
            <a:endParaRPr lang="en-US" sz="1800" dirty="0">
              <a:latin typeface="Calibri" panose="020F0502020204030204" pitchFamily="34" charset="0"/>
              <a:ea typeface="Calibri" panose="020F0502020204030204" pitchFamily="34" charset="0"/>
              <a:cs typeface="Calibri" panose="020F0502020204030204" pitchFamily="34" charset="0"/>
            </a:endParaRPr>
          </a:p>
          <a:p>
            <a:pPr>
              <a:buClr>
                <a:schemeClr val="tx1"/>
              </a:buClr>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Improved inventory turnover </a:t>
            </a:r>
          </a:p>
          <a:p>
            <a:pPr>
              <a:buClr>
                <a:schemeClr val="tx1"/>
              </a:buClr>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Reduced storage costs </a:t>
            </a:r>
          </a:p>
          <a:p>
            <a:pPr>
              <a:buClr>
                <a:schemeClr val="tx1"/>
              </a:buClr>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Higher profitability</a:t>
            </a:r>
          </a:p>
          <a:p>
            <a:pPr marL="0" indent="0">
              <a:buClr>
                <a:schemeClr val="tx1"/>
              </a:buClr>
              <a:buNone/>
            </a:pPr>
            <a:r>
              <a:rPr lang="en-US" sz="1800" b="1" dirty="0">
                <a:latin typeface="Calibri" panose="020F0502020204030204" pitchFamily="34" charset="0"/>
                <a:ea typeface="Calibri" panose="020F0502020204030204" pitchFamily="34" charset="0"/>
                <a:cs typeface="Calibri" panose="020F0502020204030204" pitchFamily="34" charset="0"/>
              </a:rPr>
              <a:t>4: Implement Customer Segmentation</a:t>
            </a:r>
          </a:p>
          <a:p>
            <a:pPr>
              <a:buClr>
                <a:schemeClr val="tx1"/>
              </a:buClr>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Leverage customer purchasing history to create personalized marketing campaigns based on buying behavior.</a:t>
            </a:r>
          </a:p>
          <a:p>
            <a:pPr>
              <a:buClr>
                <a:schemeClr val="tx1"/>
              </a:buClr>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Suggested segments include:</a:t>
            </a:r>
          </a:p>
          <a:p>
            <a:pPr>
              <a:buClr>
                <a:schemeClr val="tx1"/>
              </a:buClr>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New Customers </a:t>
            </a:r>
          </a:p>
          <a:p>
            <a:pPr>
              <a:buClr>
                <a:schemeClr val="tx1"/>
              </a:buClr>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Repeat Customers </a:t>
            </a:r>
          </a:p>
          <a:p>
            <a:pPr>
              <a:buClr>
                <a:schemeClr val="tx1"/>
              </a:buClr>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High-Value Customers </a:t>
            </a:r>
          </a:p>
          <a:p>
            <a:pPr>
              <a:buClr>
                <a:schemeClr val="tx1"/>
              </a:buClr>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Dormant Customers </a:t>
            </a:r>
          </a:p>
          <a:p>
            <a:pPr>
              <a:buClr>
                <a:schemeClr val="tx1"/>
              </a:buClr>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Expected Outcome</a:t>
            </a:r>
            <a:endParaRPr lang="en-US" sz="1800" dirty="0">
              <a:latin typeface="Calibri" panose="020F0502020204030204" pitchFamily="34" charset="0"/>
              <a:ea typeface="Calibri" panose="020F0502020204030204" pitchFamily="34" charset="0"/>
              <a:cs typeface="Calibri" panose="020F0502020204030204" pitchFamily="34" charset="0"/>
            </a:endParaRPr>
          </a:p>
          <a:p>
            <a:pPr>
              <a:buClr>
                <a:schemeClr val="tx1"/>
              </a:buClr>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Improved marketing ROI , Higher conversion rates , Better customer engagement</a:t>
            </a:r>
          </a:p>
          <a:p>
            <a:pPr>
              <a:buClr>
                <a:schemeClr val="tx1"/>
              </a:buClr>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a:p>
            <a:pPr>
              <a:buClr>
                <a:schemeClr val="tx1"/>
              </a:buClr>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a:p>
            <a:pPr>
              <a:buClr>
                <a:schemeClr val="tx1"/>
              </a:buClr>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260294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DFA4065-9F6F-E0F3-D52E-428359953274}"/>
              </a:ext>
            </a:extLst>
          </p:cNvPr>
          <p:cNvSpPr txBox="1"/>
          <p:nvPr/>
        </p:nvSpPr>
        <p:spPr>
          <a:xfrm>
            <a:off x="2299080" y="147935"/>
            <a:ext cx="6096000" cy="461665"/>
          </a:xfrm>
          <a:prstGeom prst="rect">
            <a:avLst/>
          </a:prstGeom>
          <a:noFill/>
        </p:spPr>
        <p:txBody>
          <a:bodyPr wrap="square">
            <a:spAutoFit/>
          </a:bodyPr>
          <a:lstStyle/>
          <a:p>
            <a:pPr>
              <a:defRPr sz="2400" b="1">
                <a:solidFill>
                  <a:srgbClr val="FFFFFF"/>
                </a:solidFill>
              </a:defRPr>
            </a:pPr>
            <a:r>
              <a:rPr lang="en-US" dirty="0"/>
              <a:t>Strategic Recommendations</a:t>
            </a:r>
          </a:p>
        </p:txBody>
      </p:sp>
      <p:sp>
        <p:nvSpPr>
          <p:cNvPr id="5" name="Rectangle 4">
            <a:extLst>
              <a:ext uri="{FF2B5EF4-FFF2-40B4-BE49-F238E27FC236}">
                <a16:creationId xmlns:a16="http://schemas.microsoft.com/office/drawing/2014/main" id="{CF427D2E-1FA7-3FF6-6429-70A4C8BDAA5F}"/>
              </a:ext>
            </a:extLst>
          </p:cNvPr>
          <p:cNvSpPr/>
          <p:nvPr/>
        </p:nvSpPr>
        <p:spPr>
          <a:xfrm>
            <a:off x="-26608" y="4244"/>
            <a:ext cx="12188952" cy="54864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0974C61D-6FD6-EF4C-93C4-B788F822D611}"/>
              </a:ext>
            </a:extLst>
          </p:cNvPr>
          <p:cNvSpPr txBox="1"/>
          <p:nvPr/>
        </p:nvSpPr>
        <p:spPr>
          <a:xfrm>
            <a:off x="581468" y="-34945"/>
            <a:ext cx="3754746" cy="461665"/>
          </a:xfrm>
          <a:prstGeom prst="rect">
            <a:avLst/>
          </a:prstGeom>
          <a:noFill/>
        </p:spPr>
        <p:txBody>
          <a:bodyPr wrap="none">
            <a:spAutoFit/>
          </a:bodyPr>
          <a:lstStyle/>
          <a:p>
            <a:pPr>
              <a:defRPr sz="2400" b="1">
                <a:solidFill>
                  <a:srgbClr val="FFFFFF"/>
                </a:solidFill>
              </a:defRPr>
            </a:pPr>
            <a:r>
              <a:rPr dirty="0">
                <a:latin typeface="Calibri" panose="020F0502020204030204" pitchFamily="34" charset="0"/>
                <a:ea typeface="Calibri" panose="020F0502020204030204" pitchFamily="34" charset="0"/>
                <a:cs typeface="Calibri" panose="020F0502020204030204" pitchFamily="34" charset="0"/>
              </a:rPr>
              <a:t>Strategic Recommendations</a:t>
            </a:r>
          </a:p>
        </p:txBody>
      </p:sp>
      <p:sp>
        <p:nvSpPr>
          <p:cNvPr id="7" name="Title 4">
            <a:extLst>
              <a:ext uri="{FF2B5EF4-FFF2-40B4-BE49-F238E27FC236}">
                <a16:creationId xmlns:a16="http://schemas.microsoft.com/office/drawing/2014/main" id="{071560B2-DFC2-4D3C-7B61-114A4B1F9541}"/>
              </a:ext>
            </a:extLst>
          </p:cNvPr>
          <p:cNvSpPr txBox="1">
            <a:spLocks/>
          </p:cNvSpPr>
          <p:nvPr/>
        </p:nvSpPr>
        <p:spPr>
          <a:xfrm>
            <a:off x="0" y="589584"/>
            <a:ext cx="11167110" cy="5944910"/>
          </a:xfrm>
          <a:prstGeom prst="rect">
            <a:avLst/>
          </a:prstGeom>
        </p:spPr>
        <p:txBody>
          <a:bodyPr vert="horz" lIns="91440" tIns="45720" rIns="91440" bIns="45720" rtlCol="0">
            <a:normAutofit/>
          </a:bodyPr>
          <a:lstStyle>
            <a:lvl1pPr marL="342797" indent="-342797" algn="l" defTabSz="457063" rtl="0" eaLnBrk="1" latinLnBrk="0" hangingPunct="1">
              <a:spcBef>
                <a:spcPts val="1000"/>
              </a:spcBef>
              <a:spcAft>
                <a:spcPts val="0"/>
              </a:spcAft>
              <a:buClr>
                <a:schemeClr val="bg2">
                  <a:lumMod val="40000"/>
                  <a:lumOff val="60000"/>
                </a:schemeClr>
              </a:buClr>
              <a:buSzPct val="80000"/>
              <a:buFont typeface="Wingdings 3" charset="2"/>
              <a:buChar char=""/>
              <a:defRPr sz="1999" b="0" i="0" kern="1200">
                <a:solidFill>
                  <a:schemeClr val="tx1"/>
                </a:solidFill>
                <a:latin typeface="+mj-lt"/>
                <a:ea typeface="+mj-ea"/>
                <a:cs typeface="+mj-cs"/>
              </a:defRPr>
            </a:lvl1pPr>
            <a:lvl2pPr marL="742727" indent="-285664" algn="l" defTabSz="457063" rtl="0" eaLnBrk="1" latinLnBrk="0" hangingPunct="1">
              <a:spcBef>
                <a:spcPts val="1000"/>
              </a:spcBef>
              <a:spcAft>
                <a:spcPts val="0"/>
              </a:spcAft>
              <a:buClr>
                <a:schemeClr val="bg2">
                  <a:lumMod val="40000"/>
                  <a:lumOff val="60000"/>
                </a:schemeClr>
              </a:buClr>
              <a:buSzPct val="80000"/>
              <a:buFont typeface="Wingdings 3" charset="2"/>
              <a:buChar char=""/>
              <a:defRPr sz="1799" b="0" i="0" kern="1200">
                <a:solidFill>
                  <a:schemeClr val="tx1"/>
                </a:solidFill>
                <a:latin typeface="+mj-lt"/>
                <a:ea typeface="+mj-ea"/>
                <a:cs typeface="+mj-cs"/>
              </a:defRPr>
            </a:lvl2pPr>
            <a:lvl3pPr marL="1142657"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599720"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6783"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5248"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0908"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7971"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5034"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Clr>
                <a:schemeClr val="tx1"/>
              </a:buClr>
              <a:buNone/>
            </a:pPr>
            <a:r>
              <a:rPr lang="en-US" b="1" dirty="0">
                <a:latin typeface="Calibri" panose="020F0502020204030204" pitchFamily="34" charset="0"/>
                <a:ea typeface="Calibri" panose="020F0502020204030204" pitchFamily="34" charset="0"/>
                <a:cs typeface="Calibri" panose="020F0502020204030204" pitchFamily="34" charset="0"/>
              </a:rPr>
              <a:t>5: Improve Demand Forecasting</a:t>
            </a:r>
          </a:p>
          <a:p>
            <a:pPr marL="0" indent="0">
              <a:buClr>
                <a:schemeClr val="tx1"/>
              </a:buClr>
              <a:buNone/>
            </a:pPr>
            <a:r>
              <a:rPr lang="en-US" dirty="0">
                <a:latin typeface="Calibri" panose="020F0502020204030204" pitchFamily="34" charset="0"/>
                <a:ea typeface="Calibri" panose="020F0502020204030204" pitchFamily="34" charset="0"/>
                <a:cs typeface="Calibri" panose="020F0502020204030204" pitchFamily="34" charset="0"/>
              </a:rPr>
              <a:t>Use historical sales data and seasonal trends identified during Python EDA and SQL analysis to forecast future product demand.</a:t>
            </a:r>
          </a:p>
          <a:p>
            <a:pPr marL="0" indent="0">
              <a:buClr>
                <a:schemeClr val="tx1"/>
              </a:buClr>
              <a:buNone/>
            </a:pPr>
            <a:r>
              <a:rPr lang="en-US" b="1" dirty="0">
                <a:latin typeface="Calibri" panose="020F0502020204030204" pitchFamily="34" charset="0"/>
                <a:ea typeface="Calibri" panose="020F0502020204030204" pitchFamily="34" charset="0"/>
                <a:cs typeface="Calibri" panose="020F0502020204030204" pitchFamily="34" charset="0"/>
              </a:rPr>
              <a:t>Expected Outcome</a:t>
            </a:r>
            <a:endParaRPr lang="en-US" dirty="0">
              <a:latin typeface="Calibri" panose="020F0502020204030204" pitchFamily="34" charset="0"/>
              <a:ea typeface="Calibri" panose="020F0502020204030204" pitchFamily="34" charset="0"/>
              <a:cs typeface="Calibri" panose="020F0502020204030204" pitchFamily="34" charset="0"/>
            </a:endParaRPr>
          </a:p>
          <a:p>
            <a:pPr>
              <a:buClr>
                <a:schemeClr val="tx1"/>
              </a:buClr>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Lower stock-outs </a:t>
            </a:r>
          </a:p>
          <a:p>
            <a:pPr>
              <a:buClr>
                <a:schemeClr val="tx1"/>
              </a:buClr>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Reduced excess inventory </a:t>
            </a:r>
          </a:p>
          <a:p>
            <a:pPr>
              <a:buClr>
                <a:schemeClr val="tx1"/>
              </a:buClr>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Better supply chain planning</a:t>
            </a: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159642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4864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sz="2400" b="1" dirty="0"/>
              <a:t>   Business impact</a:t>
            </a:r>
            <a:endParaRPr sz="2400" b="1" dirty="0"/>
          </a:p>
        </p:txBody>
      </p:sp>
      <p:graphicFrame>
        <p:nvGraphicFramePr>
          <p:cNvPr id="5" name="Table 4">
            <a:extLst>
              <a:ext uri="{FF2B5EF4-FFF2-40B4-BE49-F238E27FC236}">
                <a16:creationId xmlns:a16="http://schemas.microsoft.com/office/drawing/2014/main" id="{1CEE1DF5-E27E-320B-E818-64D626365734}"/>
              </a:ext>
            </a:extLst>
          </p:cNvPr>
          <p:cNvGraphicFramePr>
            <a:graphicFrameLocks noGrp="1"/>
          </p:cNvGraphicFramePr>
          <p:nvPr>
            <p:extLst>
              <p:ext uri="{D42A27DB-BD31-4B8C-83A1-F6EECF244321}">
                <p14:modId xmlns:p14="http://schemas.microsoft.com/office/powerpoint/2010/main" val="4102465757"/>
              </p:ext>
            </p:extLst>
          </p:nvPr>
        </p:nvGraphicFramePr>
        <p:xfrm>
          <a:off x="133350" y="723901"/>
          <a:ext cx="10820400" cy="5988404"/>
        </p:xfrm>
        <a:graphic>
          <a:graphicData uri="http://schemas.openxmlformats.org/drawingml/2006/table">
            <a:tbl>
              <a:tblPr/>
              <a:tblGrid>
                <a:gridCol w="5410200">
                  <a:extLst>
                    <a:ext uri="{9D8B030D-6E8A-4147-A177-3AD203B41FA5}">
                      <a16:colId xmlns:a16="http://schemas.microsoft.com/office/drawing/2014/main" val="2692091307"/>
                    </a:ext>
                  </a:extLst>
                </a:gridCol>
                <a:gridCol w="5410200">
                  <a:extLst>
                    <a:ext uri="{9D8B030D-6E8A-4147-A177-3AD203B41FA5}">
                      <a16:colId xmlns:a16="http://schemas.microsoft.com/office/drawing/2014/main" val="3933794999"/>
                    </a:ext>
                  </a:extLst>
                </a:gridCol>
              </a:tblGrid>
              <a:tr h="357767">
                <a:tc>
                  <a:txBody>
                    <a:bodyPr/>
                    <a:lstStyle/>
                    <a:p>
                      <a:r>
                        <a:rPr lang="en-US" sz="2000">
                          <a:latin typeface="Calibri" panose="020F0502020204030204" pitchFamily="34" charset="0"/>
                          <a:ea typeface="Calibri" panose="020F0502020204030204" pitchFamily="34" charset="0"/>
                          <a:cs typeface="Calibri" panose="020F0502020204030204" pitchFamily="34" charset="0"/>
                        </a:rPr>
                        <a:t>Business Area</a:t>
                      </a:r>
                    </a:p>
                  </a:txBody>
                  <a:tcPr marL="63598" marR="63598" marT="31799" marB="31799" anchor="ctr">
                    <a:lnL>
                      <a:noFill/>
                    </a:lnL>
                    <a:lnR>
                      <a:noFill/>
                    </a:lnR>
                    <a:lnT>
                      <a:noFill/>
                    </a:lnT>
                    <a:lnB>
                      <a:noFill/>
                    </a:lnB>
                    <a:noFill/>
                  </a:tcPr>
                </a:tc>
                <a:tc>
                  <a:txBody>
                    <a:bodyPr/>
                    <a:lstStyle/>
                    <a:p>
                      <a:r>
                        <a:rPr lang="en-US" sz="2000">
                          <a:latin typeface="Calibri" panose="020F0502020204030204" pitchFamily="34" charset="0"/>
                          <a:ea typeface="Calibri" panose="020F0502020204030204" pitchFamily="34" charset="0"/>
                          <a:cs typeface="Calibri" panose="020F0502020204030204" pitchFamily="34" charset="0"/>
                        </a:rPr>
                        <a:t>Expected Impact</a:t>
                      </a:r>
                    </a:p>
                  </a:txBody>
                  <a:tcPr marL="63598" marR="63598" marT="31799" marB="31799" anchor="ctr">
                    <a:lnL>
                      <a:noFill/>
                    </a:lnL>
                    <a:lnR>
                      <a:noFill/>
                    </a:lnR>
                    <a:lnT>
                      <a:noFill/>
                    </a:lnT>
                    <a:lnB>
                      <a:noFill/>
                    </a:lnB>
                    <a:noFill/>
                  </a:tcPr>
                </a:tc>
                <a:extLst>
                  <a:ext uri="{0D108BD9-81ED-4DB2-BD59-A6C34878D82A}">
                    <a16:rowId xmlns:a16="http://schemas.microsoft.com/office/drawing/2014/main" val="267031867"/>
                  </a:ext>
                </a:extLst>
              </a:tr>
              <a:tr h="818690">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Revenue Growth</a:t>
                      </a:r>
                    </a:p>
                  </a:txBody>
                  <a:tcPr marL="63598" marR="63598" marT="31799" marB="31799" anchor="ctr">
                    <a:lnL>
                      <a:noFill/>
                    </a:lnL>
                    <a:lnR>
                      <a:noFill/>
                    </a:lnR>
                    <a:lnT>
                      <a:noFill/>
                    </a:lnT>
                    <a:lnB>
                      <a:noFill/>
                    </a:lnB>
                    <a:noFill/>
                  </a:tcPr>
                </a:tc>
                <a:tc>
                  <a:txBody>
                    <a:bodyPr/>
                    <a:lstStyle/>
                    <a:p>
                      <a:r>
                        <a:rPr lang="en-US" sz="2000">
                          <a:latin typeface="Calibri" panose="020F0502020204030204" pitchFamily="34" charset="0"/>
                          <a:ea typeface="Calibri" panose="020F0502020204030204" pitchFamily="34" charset="0"/>
                          <a:cs typeface="Calibri" panose="020F0502020204030204" pitchFamily="34" charset="0"/>
                        </a:rPr>
                        <a:t>Higher sales through improved customer retention and regional expansion</a:t>
                      </a:r>
                    </a:p>
                  </a:txBody>
                  <a:tcPr marL="63598" marR="63598" marT="31799" marB="31799" anchor="ctr">
                    <a:lnL>
                      <a:noFill/>
                    </a:lnL>
                    <a:lnR>
                      <a:noFill/>
                    </a:lnR>
                    <a:lnT>
                      <a:noFill/>
                    </a:lnT>
                    <a:lnB>
                      <a:noFill/>
                    </a:lnB>
                    <a:noFill/>
                  </a:tcPr>
                </a:tc>
                <a:extLst>
                  <a:ext uri="{0D108BD9-81ED-4DB2-BD59-A6C34878D82A}">
                    <a16:rowId xmlns:a16="http://schemas.microsoft.com/office/drawing/2014/main" val="1634292972"/>
                  </a:ext>
                </a:extLst>
              </a:tr>
              <a:tr h="653772">
                <a:tc>
                  <a:txBody>
                    <a:bodyPr/>
                    <a:lstStyle/>
                    <a:p>
                      <a:r>
                        <a:rPr lang="en-US" sz="2000">
                          <a:latin typeface="Calibri" panose="020F0502020204030204" pitchFamily="34" charset="0"/>
                          <a:ea typeface="Calibri" panose="020F0502020204030204" pitchFamily="34" charset="0"/>
                          <a:cs typeface="Calibri" panose="020F0502020204030204" pitchFamily="34" charset="0"/>
                        </a:rPr>
                        <a:t>Customer Retention</a:t>
                      </a:r>
                    </a:p>
                  </a:txBody>
                  <a:tcPr marL="63598" marR="63598" marT="31799" marB="31799" anchor="ctr">
                    <a:lnL>
                      <a:noFill/>
                    </a:lnL>
                    <a:lnR>
                      <a:noFill/>
                    </a:lnR>
                    <a:lnT>
                      <a:noFill/>
                    </a:lnT>
                    <a:lnB>
                      <a:noFill/>
                    </a:lnB>
                    <a:noFill/>
                  </a:tcPr>
                </a:tc>
                <a:tc>
                  <a:txBody>
                    <a:bodyPr/>
                    <a:lstStyle/>
                    <a:p>
                      <a:r>
                        <a:rPr lang="en-US" sz="2000">
                          <a:latin typeface="Calibri" panose="020F0502020204030204" pitchFamily="34" charset="0"/>
                          <a:ea typeface="Calibri" panose="020F0502020204030204" pitchFamily="34" charset="0"/>
                          <a:cs typeface="Calibri" panose="020F0502020204030204" pitchFamily="34" charset="0"/>
                        </a:rPr>
                        <a:t>Increased repeat purchases and stronger customer loyalty</a:t>
                      </a:r>
                    </a:p>
                  </a:txBody>
                  <a:tcPr marL="63598" marR="63598" marT="31799" marB="31799" anchor="ctr">
                    <a:lnL>
                      <a:noFill/>
                    </a:lnL>
                    <a:lnR>
                      <a:noFill/>
                    </a:lnR>
                    <a:lnT>
                      <a:noFill/>
                    </a:lnT>
                    <a:lnB>
                      <a:noFill/>
                    </a:lnB>
                    <a:noFill/>
                  </a:tcPr>
                </a:tc>
                <a:extLst>
                  <a:ext uri="{0D108BD9-81ED-4DB2-BD59-A6C34878D82A}">
                    <a16:rowId xmlns:a16="http://schemas.microsoft.com/office/drawing/2014/main" val="2147742120"/>
                  </a:ext>
                </a:extLst>
              </a:tr>
              <a:tr h="572171">
                <a:tc>
                  <a:txBody>
                    <a:bodyPr/>
                    <a:lstStyle/>
                    <a:p>
                      <a:r>
                        <a:rPr lang="en-US" sz="2000">
                          <a:latin typeface="Calibri" panose="020F0502020204030204" pitchFamily="34" charset="0"/>
                          <a:ea typeface="Calibri" panose="020F0502020204030204" pitchFamily="34" charset="0"/>
                          <a:cs typeface="Calibri" panose="020F0502020204030204" pitchFamily="34" charset="0"/>
                        </a:rPr>
                        <a:t>Inventory Management</a:t>
                      </a:r>
                    </a:p>
                  </a:txBody>
                  <a:tcPr marL="63598" marR="63598" marT="31799" marB="31799" anchor="ctr">
                    <a:lnL>
                      <a:noFill/>
                    </a:lnL>
                    <a:lnR>
                      <a:noFill/>
                    </a:lnR>
                    <a:lnT>
                      <a:noFill/>
                    </a:lnT>
                    <a:lnB>
                      <a:noFill/>
                    </a:lnB>
                    <a:noFill/>
                  </a:tcPr>
                </a:tc>
                <a:tc>
                  <a:txBody>
                    <a:bodyPr/>
                    <a:lstStyle/>
                    <a:p>
                      <a:r>
                        <a:rPr lang="en-US" sz="2000">
                          <a:latin typeface="Calibri" panose="020F0502020204030204" pitchFamily="34" charset="0"/>
                          <a:ea typeface="Calibri" panose="020F0502020204030204" pitchFamily="34" charset="0"/>
                          <a:cs typeface="Calibri" panose="020F0502020204030204" pitchFamily="34" charset="0"/>
                        </a:rPr>
                        <a:t>Better stock planning and reduced inventory costs</a:t>
                      </a:r>
                    </a:p>
                  </a:txBody>
                  <a:tcPr marL="63598" marR="63598" marT="31799" marB="31799" anchor="ctr">
                    <a:lnL>
                      <a:noFill/>
                    </a:lnL>
                    <a:lnR>
                      <a:noFill/>
                    </a:lnR>
                    <a:lnT>
                      <a:noFill/>
                    </a:lnT>
                    <a:lnB>
                      <a:noFill/>
                    </a:lnB>
                    <a:noFill/>
                  </a:tcPr>
                </a:tc>
                <a:extLst>
                  <a:ext uri="{0D108BD9-81ED-4DB2-BD59-A6C34878D82A}">
                    <a16:rowId xmlns:a16="http://schemas.microsoft.com/office/drawing/2014/main" val="1851882935"/>
                  </a:ext>
                </a:extLst>
              </a:tr>
              <a:tr h="818690">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Marketing Performance</a:t>
                      </a:r>
                    </a:p>
                  </a:txBody>
                  <a:tcPr marL="63598" marR="63598" marT="31799" marB="31799" anchor="ctr">
                    <a:lnL>
                      <a:noFill/>
                    </a:lnL>
                    <a:lnR>
                      <a:noFill/>
                    </a:lnR>
                    <a:lnT>
                      <a:noFill/>
                    </a:lnT>
                    <a:lnB>
                      <a:noFill/>
                    </a:lnB>
                    <a:noFill/>
                  </a:tcPr>
                </a:tc>
                <a:tc>
                  <a:txBody>
                    <a:bodyPr/>
                    <a:lstStyle/>
                    <a:p>
                      <a:r>
                        <a:rPr lang="en-US" sz="2000">
                          <a:latin typeface="Calibri" panose="020F0502020204030204" pitchFamily="34" charset="0"/>
                          <a:ea typeface="Calibri" panose="020F0502020204030204" pitchFamily="34" charset="0"/>
                          <a:cs typeface="Calibri" panose="020F0502020204030204" pitchFamily="34" charset="0"/>
                        </a:rPr>
                        <a:t>Higher ROI through targeted campaigns and customer segmentation</a:t>
                      </a:r>
                    </a:p>
                  </a:txBody>
                  <a:tcPr marL="63598" marR="63598" marT="31799" marB="31799" anchor="ctr">
                    <a:lnL>
                      <a:noFill/>
                    </a:lnL>
                    <a:lnR>
                      <a:noFill/>
                    </a:lnR>
                    <a:lnT>
                      <a:noFill/>
                    </a:lnT>
                    <a:lnB>
                      <a:noFill/>
                    </a:lnB>
                    <a:noFill/>
                  </a:tcPr>
                </a:tc>
                <a:extLst>
                  <a:ext uri="{0D108BD9-81ED-4DB2-BD59-A6C34878D82A}">
                    <a16:rowId xmlns:a16="http://schemas.microsoft.com/office/drawing/2014/main" val="1333623488"/>
                  </a:ext>
                </a:extLst>
              </a:tr>
              <a:tr h="572171">
                <a:tc>
                  <a:txBody>
                    <a:bodyPr/>
                    <a:lstStyle/>
                    <a:p>
                      <a:r>
                        <a:rPr lang="en-US" sz="2000">
                          <a:latin typeface="Calibri" panose="020F0502020204030204" pitchFamily="34" charset="0"/>
                          <a:ea typeface="Calibri" panose="020F0502020204030204" pitchFamily="34" charset="0"/>
                          <a:cs typeface="Calibri" panose="020F0502020204030204" pitchFamily="34" charset="0"/>
                        </a:rPr>
                        <a:t>Regional Expansion</a:t>
                      </a:r>
                    </a:p>
                  </a:txBody>
                  <a:tcPr marL="63598" marR="63598" marT="31799" marB="31799" anchor="ctr">
                    <a:lnL>
                      <a:noFill/>
                    </a:lnL>
                    <a:lnR>
                      <a:noFill/>
                    </a:lnR>
                    <a:lnT>
                      <a:noFill/>
                    </a:lnT>
                    <a:lnB>
                      <a:noFill/>
                    </a:lnB>
                    <a:noFill/>
                  </a:tcPr>
                </a:tc>
                <a:tc>
                  <a:txBody>
                    <a:bodyPr/>
                    <a:lstStyle/>
                    <a:p>
                      <a:r>
                        <a:rPr lang="en-US" sz="2000">
                          <a:latin typeface="Calibri" panose="020F0502020204030204" pitchFamily="34" charset="0"/>
                          <a:ea typeface="Calibri" panose="020F0502020204030204" pitchFamily="34" charset="0"/>
                          <a:cs typeface="Calibri" panose="020F0502020204030204" pitchFamily="34" charset="0"/>
                        </a:rPr>
                        <a:t>Diversified revenue across more Brazilian states</a:t>
                      </a:r>
                    </a:p>
                  </a:txBody>
                  <a:tcPr marL="63598" marR="63598" marT="31799" marB="31799" anchor="ctr">
                    <a:lnL>
                      <a:noFill/>
                    </a:lnL>
                    <a:lnR>
                      <a:noFill/>
                    </a:lnR>
                    <a:lnT>
                      <a:noFill/>
                    </a:lnT>
                    <a:lnB>
                      <a:noFill/>
                    </a:lnB>
                    <a:noFill/>
                  </a:tcPr>
                </a:tc>
                <a:extLst>
                  <a:ext uri="{0D108BD9-81ED-4DB2-BD59-A6C34878D82A}">
                    <a16:rowId xmlns:a16="http://schemas.microsoft.com/office/drawing/2014/main" val="636888003"/>
                  </a:ext>
                </a:extLst>
              </a:tr>
              <a:tr h="653772">
                <a:tc>
                  <a:txBody>
                    <a:bodyPr/>
                    <a:lstStyle/>
                    <a:p>
                      <a:r>
                        <a:rPr lang="en-US" sz="2000">
                          <a:latin typeface="Calibri" panose="020F0502020204030204" pitchFamily="34" charset="0"/>
                          <a:ea typeface="Calibri" panose="020F0502020204030204" pitchFamily="34" charset="0"/>
                          <a:cs typeface="Calibri" panose="020F0502020204030204" pitchFamily="34" charset="0"/>
                        </a:rPr>
                        <a:t>Decision Making</a:t>
                      </a:r>
                    </a:p>
                  </a:txBody>
                  <a:tcPr marL="63598" marR="63598" marT="31799" marB="31799" anchor="ctr">
                    <a:lnL>
                      <a:noFill/>
                    </a:lnL>
                    <a:lnR>
                      <a:noFill/>
                    </a:lnR>
                    <a:lnT>
                      <a:noFill/>
                    </a:lnT>
                    <a:lnB>
                      <a:noFill/>
                    </a:lnB>
                    <a:noFill/>
                  </a:tcPr>
                </a:tc>
                <a:tc>
                  <a:txBody>
                    <a:bodyPr/>
                    <a:lstStyle/>
                    <a:p>
                      <a:r>
                        <a:rPr lang="en-US" sz="2000">
                          <a:latin typeface="Calibri" panose="020F0502020204030204" pitchFamily="34" charset="0"/>
                          <a:ea typeface="Calibri" panose="020F0502020204030204" pitchFamily="34" charset="0"/>
                          <a:cs typeface="Calibri" panose="020F0502020204030204" pitchFamily="34" charset="0"/>
                        </a:rPr>
                        <a:t>Faster and more informed decisions using Power BI dashboards</a:t>
                      </a:r>
                    </a:p>
                  </a:txBody>
                  <a:tcPr marL="63598" marR="63598" marT="31799" marB="31799" anchor="ctr">
                    <a:lnL>
                      <a:noFill/>
                    </a:lnL>
                    <a:lnR>
                      <a:noFill/>
                    </a:lnR>
                    <a:lnT>
                      <a:noFill/>
                    </a:lnT>
                    <a:lnB>
                      <a:noFill/>
                    </a:lnB>
                    <a:noFill/>
                  </a:tcPr>
                </a:tc>
                <a:extLst>
                  <a:ext uri="{0D108BD9-81ED-4DB2-BD59-A6C34878D82A}">
                    <a16:rowId xmlns:a16="http://schemas.microsoft.com/office/drawing/2014/main" val="2284964825"/>
                  </a:ext>
                </a:extLst>
              </a:tr>
              <a:tr h="818690">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Operational Efficiency</a:t>
                      </a:r>
                    </a:p>
                  </a:txBody>
                  <a:tcPr marL="63598" marR="63598" marT="31799" marB="31799" anchor="ctr">
                    <a:lnL>
                      <a:noFill/>
                    </a:lnL>
                    <a:lnR>
                      <a:noFill/>
                    </a:lnR>
                    <a:lnT>
                      <a:noFill/>
                    </a:lnT>
                    <a:lnB>
                      <a:noFill/>
                    </a:lnB>
                    <a:noFill/>
                  </a:tcPr>
                </a:tc>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Reduced manual reporting through Python automation and SQL reporting</a:t>
                      </a:r>
                    </a:p>
                  </a:txBody>
                  <a:tcPr marL="63598" marR="63598" marT="31799" marB="31799" anchor="ctr">
                    <a:lnL>
                      <a:noFill/>
                    </a:lnL>
                    <a:lnR>
                      <a:noFill/>
                    </a:lnR>
                    <a:lnT>
                      <a:noFill/>
                    </a:lnT>
                    <a:lnB>
                      <a:noFill/>
                    </a:lnB>
                    <a:noFill/>
                  </a:tcPr>
                </a:tc>
                <a:extLst>
                  <a:ext uri="{0D108BD9-81ED-4DB2-BD59-A6C34878D82A}">
                    <a16:rowId xmlns:a16="http://schemas.microsoft.com/office/drawing/2014/main" val="459795247"/>
                  </a:ext>
                </a:extLst>
              </a:tr>
              <a:tr h="653772">
                <a:tc>
                  <a:txBody>
                    <a:bodyPr/>
                    <a:lstStyle/>
                    <a:p>
                      <a:r>
                        <a:rPr lang="en-US" sz="2000">
                          <a:latin typeface="Calibri" panose="020F0502020204030204" pitchFamily="34" charset="0"/>
                          <a:ea typeface="Calibri" panose="020F0502020204030204" pitchFamily="34" charset="0"/>
                          <a:cs typeface="Calibri" panose="020F0502020204030204" pitchFamily="34" charset="0"/>
                        </a:rPr>
                        <a:t>Customer Experience</a:t>
                      </a:r>
                    </a:p>
                  </a:txBody>
                  <a:tcPr marL="63598" marR="63598" marT="31799" marB="31799" anchor="ctr">
                    <a:lnL>
                      <a:noFill/>
                    </a:lnL>
                    <a:lnR>
                      <a:noFill/>
                    </a:lnR>
                    <a:lnT>
                      <a:noFill/>
                    </a:lnT>
                    <a:lnB>
                      <a:noFill/>
                    </a:lnB>
                    <a:noFill/>
                  </a:tcPr>
                </a:tc>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Personalized shopping experience leading to increased satisfaction</a:t>
                      </a:r>
                    </a:p>
                  </a:txBody>
                  <a:tcPr marL="63598" marR="63598" marT="31799" marB="31799" anchor="ctr">
                    <a:lnL>
                      <a:noFill/>
                    </a:lnL>
                    <a:lnR>
                      <a:noFill/>
                    </a:lnR>
                    <a:lnT>
                      <a:noFill/>
                    </a:lnT>
                    <a:lnB>
                      <a:noFill/>
                    </a:lnB>
                    <a:noFill/>
                  </a:tcPr>
                </a:tc>
                <a:extLst>
                  <a:ext uri="{0D108BD9-81ED-4DB2-BD59-A6C34878D82A}">
                    <a16:rowId xmlns:a16="http://schemas.microsoft.com/office/drawing/2014/main" val="1403078118"/>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D9198A-C6DE-D191-FEDE-895538842347}"/>
              </a:ext>
            </a:extLst>
          </p:cNvPr>
          <p:cNvSpPr>
            <a:spLocks noGrp="1"/>
          </p:cNvSpPr>
          <p:nvPr>
            <p:ph idx="1"/>
          </p:nvPr>
        </p:nvSpPr>
        <p:spPr>
          <a:xfrm>
            <a:off x="0" y="548641"/>
            <a:ext cx="12188825" cy="5699760"/>
          </a:xfrm>
        </p:spPr>
        <p:txBody>
          <a:bodyPr/>
          <a:lstStyle/>
          <a:p>
            <a:pPr>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a:buClr>
                <a:schemeClr val="tx1"/>
              </a:buClr>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Sustainable revenue growth </a:t>
            </a:r>
          </a:p>
          <a:p>
            <a:pPr>
              <a:buClr>
                <a:schemeClr val="tx1"/>
              </a:buClr>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Increased market share </a:t>
            </a:r>
          </a:p>
          <a:p>
            <a:pPr>
              <a:buClr>
                <a:schemeClr val="tx1"/>
              </a:buClr>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Higher customer lifetime value </a:t>
            </a:r>
          </a:p>
          <a:p>
            <a:pPr>
              <a:buClr>
                <a:schemeClr val="tx1"/>
              </a:buClr>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Improved profitability </a:t>
            </a:r>
          </a:p>
          <a:p>
            <a:pPr>
              <a:buClr>
                <a:schemeClr val="tx1"/>
              </a:buClr>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Better resource allocation </a:t>
            </a:r>
          </a:p>
          <a:p>
            <a:pPr>
              <a:buClr>
                <a:schemeClr val="tx1"/>
              </a:buClr>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Enhanced operational efficiency </a:t>
            </a:r>
          </a:p>
          <a:p>
            <a:pPr>
              <a:buClr>
                <a:schemeClr val="tx1"/>
              </a:buClr>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Data-driven strategic decision-making </a:t>
            </a:r>
          </a:p>
          <a:p>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43234394-BED4-C284-CC48-45AF8AF02E7D}"/>
              </a:ext>
            </a:extLst>
          </p:cNvPr>
          <p:cNvSpPr/>
          <p:nvPr/>
        </p:nvSpPr>
        <p:spPr>
          <a:xfrm>
            <a:off x="0" y="0"/>
            <a:ext cx="12188952" cy="54864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sz="2800" b="1" dirty="0">
                <a:latin typeface="Calibri" panose="020F0502020204030204" pitchFamily="34" charset="0"/>
                <a:ea typeface="Calibri" panose="020F0502020204030204" pitchFamily="34" charset="0"/>
                <a:cs typeface="Calibri" panose="020F0502020204030204" pitchFamily="34" charset="0"/>
              </a:rPr>
              <a:t>Long-Term Business Benefits</a:t>
            </a:r>
          </a:p>
        </p:txBody>
      </p:sp>
    </p:spTree>
    <p:extLst>
      <p:ext uri="{BB962C8B-B14F-4D97-AF65-F5344CB8AC3E}">
        <p14:creationId xmlns:p14="http://schemas.microsoft.com/office/powerpoint/2010/main" val="38519758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4864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576072" cy="461665"/>
          </a:xfrm>
          <a:prstGeom prst="rect">
            <a:avLst/>
          </a:prstGeom>
          <a:noFill/>
        </p:spPr>
        <p:txBody>
          <a:bodyPr wrap="none">
            <a:spAutoFit/>
          </a:bodyPr>
          <a:lstStyle/>
          <a:p>
            <a:pPr>
              <a:defRPr sz="2400" b="1">
                <a:solidFill>
                  <a:srgbClr val="FFFFFF"/>
                </a:solidFill>
              </a:defRPr>
            </a:pPr>
            <a:r>
              <a:rPr dirty="0">
                <a:latin typeface="Calibri" panose="020F0502020204030204" pitchFamily="34" charset="0"/>
                <a:ea typeface="Calibri" panose="020F0502020204030204" pitchFamily="34" charset="0"/>
                <a:cs typeface="Calibri" panose="020F0502020204030204" pitchFamily="34" charset="0"/>
              </a:rPr>
              <a:t>Conclusion</a:t>
            </a:r>
          </a:p>
        </p:txBody>
      </p:sp>
      <p:sp>
        <p:nvSpPr>
          <p:cNvPr id="4" name="TextBox 3"/>
          <p:cNvSpPr txBox="1"/>
          <p:nvPr/>
        </p:nvSpPr>
        <p:spPr>
          <a:xfrm>
            <a:off x="235974" y="822960"/>
            <a:ext cx="10167659" cy="5632311"/>
          </a:xfrm>
          <a:prstGeom prst="rect">
            <a:avLst/>
          </a:prstGeom>
          <a:noFill/>
        </p:spPr>
        <p:txBody>
          <a:bodyPr wrap="square">
            <a:spAutoFit/>
          </a:bodyPr>
          <a:lstStyle/>
          <a:p>
            <a:r>
              <a:rPr lang="en-US" dirty="0">
                <a:latin typeface="Calibri" panose="020F0502020204030204" pitchFamily="34" charset="0"/>
                <a:ea typeface="Calibri" panose="020F0502020204030204" pitchFamily="34" charset="0"/>
                <a:cs typeface="Calibri" panose="020F0502020204030204" pitchFamily="34" charset="0"/>
              </a:rPr>
              <a:t>This project demonstrates how integrating </a:t>
            </a:r>
            <a:r>
              <a:rPr lang="en-US" b="1" dirty="0">
                <a:latin typeface="Calibri" panose="020F0502020204030204" pitchFamily="34" charset="0"/>
                <a:ea typeface="Calibri" panose="020F0502020204030204" pitchFamily="34" charset="0"/>
                <a:cs typeface="Calibri" panose="020F0502020204030204" pitchFamily="34" charset="0"/>
              </a:rPr>
              <a:t>Python</a:t>
            </a:r>
            <a:r>
              <a:rPr lang="en-US" dirty="0">
                <a:latin typeface="Calibri" panose="020F0502020204030204" pitchFamily="34" charset="0"/>
                <a:ea typeface="Calibri" panose="020F0502020204030204" pitchFamily="34" charset="0"/>
                <a:cs typeface="Calibri" panose="020F0502020204030204" pitchFamily="34" charset="0"/>
              </a:rPr>
              <a:t>, </a:t>
            </a:r>
            <a:r>
              <a:rPr lang="en-US" b="1" dirty="0">
                <a:latin typeface="Calibri" panose="020F0502020204030204" pitchFamily="34" charset="0"/>
                <a:ea typeface="Calibri" panose="020F0502020204030204" pitchFamily="34" charset="0"/>
                <a:cs typeface="Calibri" panose="020F0502020204030204" pitchFamily="34" charset="0"/>
              </a:rPr>
              <a:t>SQL</a:t>
            </a:r>
            <a:r>
              <a:rPr lang="en-US" dirty="0">
                <a:latin typeface="Calibri" panose="020F0502020204030204" pitchFamily="34" charset="0"/>
                <a:ea typeface="Calibri" panose="020F0502020204030204" pitchFamily="34" charset="0"/>
                <a:cs typeface="Calibri" panose="020F0502020204030204" pitchFamily="34" charset="0"/>
              </a:rPr>
              <a:t>, and </a:t>
            </a:r>
            <a:r>
              <a:rPr lang="en-US" b="1" dirty="0">
                <a:latin typeface="Calibri" panose="020F0502020204030204" pitchFamily="34" charset="0"/>
                <a:ea typeface="Calibri" panose="020F0502020204030204" pitchFamily="34" charset="0"/>
                <a:cs typeface="Calibri" panose="020F0502020204030204" pitchFamily="34" charset="0"/>
              </a:rPr>
              <a:t>Power BI</a:t>
            </a:r>
            <a:r>
              <a:rPr lang="en-US" dirty="0">
                <a:latin typeface="Calibri" panose="020F0502020204030204" pitchFamily="34" charset="0"/>
                <a:ea typeface="Calibri" panose="020F0502020204030204" pitchFamily="34" charset="0"/>
                <a:cs typeface="Calibri" panose="020F0502020204030204" pitchFamily="34" charset="0"/>
              </a:rPr>
              <a:t> can transform raw e-commerce data into actionable business intelligence.</a:t>
            </a:r>
          </a:p>
          <a:p>
            <a:r>
              <a:rPr lang="en-US" dirty="0">
                <a:latin typeface="Calibri" panose="020F0502020204030204" pitchFamily="34" charset="0"/>
                <a:ea typeface="Calibri" panose="020F0502020204030204" pitchFamily="34" charset="0"/>
                <a:cs typeface="Calibri" panose="020F0502020204030204" pitchFamily="34" charset="0"/>
              </a:rPr>
              <a:t>Python was instrumental in preparing the data by performing cleaning, handling missing values, removing duplicates, engineering features, and conducting exploratory data analysis to ensure a reliable analytical foundation. SQL then enabled detailed business analysis by uncovering revenue trends, regional performance, customer purchasing behavior, and product performance. Finally, Power BI translated these analytical findings into interactive dashboards that support executive decision-making through real-time KPI monitoring and intuitive visualizations.</a:t>
            </a:r>
          </a:p>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The analysis identified several strategic opportunities, including strengthening customer retention, optimizing the product portfolio, expanding into underperforming regions, and enhancing demand forecasting. By implementing the recommended strategies, </a:t>
            </a:r>
            <a:r>
              <a:rPr lang="en-US" dirty="0" err="1">
                <a:latin typeface="Calibri" panose="020F0502020204030204" pitchFamily="34" charset="0"/>
                <a:ea typeface="Calibri" panose="020F0502020204030204" pitchFamily="34" charset="0"/>
                <a:cs typeface="Calibri" panose="020F0502020204030204" pitchFamily="34" charset="0"/>
              </a:rPr>
              <a:t>Olist</a:t>
            </a:r>
            <a:r>
              <a:rPr lang="en-US" dirty="0">
                <a:latin typeface="Calibri" panose="020F0502020204030204" pitchFamily="34" charset="0"/>
                <a:ea typeface="Calibri" panose="020F0502020204030204" pitchFamily="34" charset="0"/>
                <a:cs typeface="Calibri" panose="020F0502020204030204" pitchFamily="34" charset="0"/>
              </a:rPr>
              <a:t> can improve customer lifetime value, diversify revenue streams, increase operational efficiency, and support long-term, data-driven growth.</a:t>
            </a:r>
          </a:p>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This end-to-end analytics workflow highlights the value of combining </a:t>
            </a:r>
            <a:r>
              <a:rPr lang="en-US" b="1" dirty="0">
                <a:latin typeface="Calibri" panose="020F0502020204030204" pitchFamily="34" charset="0"/>
                <a:ea typeface="Calibri" panose="020F0502020204030204" pitchFamily="34" charset="0"/>
                <a:cs typeface="Calibri" panose="020F0502020204030204" pitchFamily="34" charset="0"/>
              </a:rPr>
              <a:t>Python for data preparation and exploration, SQL for business intelligence, and Power BI for executive reporting</a:t>
            </a:r>
            <a:r>
              <a:rPr lang="en-US" dirty="0">
                <a:latin typeface="Calibri" panose="020F0502020204030204" pitchFamily="34" charset="0"/>
                <a:ea typeface="Calibri" panose="020F0502020204030204" pitchFamily="34" charset="0"/>
                <a:cs typeface="Calibri" panose="020F0502020204030204" pitchFamily="34" charset="0"/>
              </a:rPr>
              <a:t>, providing a scalable framework for informed decision-making and sustained competitive advantage in the Brazilian e-commerce market.</a:t>
            </a:r>
          </a:p>
          <a:p>
            <a:endParaRPr lang="en-US" dirty="0">
              <a:latin typeface="Calibri" panose="020F0502020204030204" pitchFamily="34" charset="0"/>
              <a:ea typeface="Calibri" panose="020F0502020204030204" pitchFamily="34" charset="0"/>
              <a:cs typeface="Calibri" panose="020F0502020204030204" pitchFamily="34" charset="0"/>
            </a:endParaRPr>
          </a:p>
          <a:p>
            <a:endParaRPr lang="en-US"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249</TotalTime>
  <Words>1704</Words>
  <Application>Microsoft Office PowerPoint</Application>
  <PresentationFormat>Custom</PresentationFormat>
  <Paragraphs>196</Paragraphs>
  <Slides>28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Calibri</vt:lpstr>
      <vt:lpstr>Century Gothic</vt:lpstr>
      <vt:lpstr>Georgia</vt:lpstr>
      <vt:lpstr>Wingdings</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 </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DELL</dc:creator>
  <cp:keywords/>
  <dc:description>generated using python-pptx</dc:description>
  <cp:lastModifiedBy>DELL</cp:lastModifiedBy>
  <cp:revision>4</cp:revision>
  <dcterms:created xsi:type="dcterms:W3CDTF">2013-01-27T09:14:16Z</dcterms:created>
  <dcterms:modified xsi:type="dcterms:W3CDTF">2026-07-27T16:09:36Z</dcterms:modified>
  <cp:category/>
</cp:coreProperties>
</file>